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66" r:id="rId3"/>
    <p:sldId id="257" r:id="rId4"/>
    <p:sldId id="258" r:id="rId5"/>
    <p:sldId id="260" r:id="rId6"/>
    <p:sldId id="259" r:id="rId7"/>
    <p:sldId id="264" r:id="rId8"/>
    <p:sldId id="261" r:id="rId9"/>
    <p:sldId id="262" r:id="rId10"/>
    <p:sldId id="267" r:id="rId11"/>
    <p:sldId id="268" r:id="rId12"/>
    <p:sldId id="263" r:id="rId13"/>
  </p:sldIdLst>
  <p:sldSz cx="18288000" cy="10287000"/>
  <p:notesSz cx="6858000" cy="9144000"/>
  <p:embeddedFontLst>
    <p:embeddedFont>
      <p:font typeface="Fabrica Heavy" panose="020B0604020202020204" charset="0"/>
      <p:regular r:id="rId15"/>
    </p:embeddedFont>
    <p:embeddedFont>
      <p:font typeface="Inter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62" d="100"/>
          <a:sy n="62" d="100"/>
        </p:scale>
        <p:origin x="298"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1DB68-7A7B-062B-5300-F781C9FFDD4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DB89A5-1E5A-2829-C67F-E2F4578508C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53FD9D0-7666-ED91-D2ED-7EBCA115C31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6CFA4E3-6B59-B8C8-6A39-B354253D4E5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EEB38E2-1820-66A3-5CBA-931052B6346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a:extLst>
              <a:ext uri="{FF2B5EF4-FFF2-40B4-BE49-F238E27FC236}">
                <a16:creationId xmlns:a16="http://schemas.microsoft.com/office/drawing/2014/main" id="{AEAB80E8-11AA-05D3-FB7D-B4D58E968E0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258E046-3D7C-EBA3-79F7-9FEE57AC423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07281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13E98-FACB-52D2-CC72-8CFF112433A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29BFB3-9218-8F40-108C-499B5D04B76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DA6BE32-8E6A-7EBD-28D2-39DBAEF9730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3D3204B-2855-2C93-401C-9AE7687F208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4D4DD58-DEF4-B5CB-AD9E-830F1F7AF17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a:extLst>
              <a:ext uri="{FF2B5EF4-FFF2-40B4-BE49-F238E27FC236}">
                <a16:creationId xmlns:a16="http://schemas.microsoft.com/office/drawing/2014/main" id="{340D5593-AC04-6DA2-A320-949FCAABB55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2B05EBB-C0A3-12A2-13CF-9EADEBB8000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42708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13.png"/><Relationship Id="rId5" Type="http://schemas.openxmlformats.org/officeDocument/2006/relationships/image" Target="../media/image3.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2.png"/><Relationship Id="rId9" Type="http://schemas.openxmlformats.org/officeDocument/2006/relationships/image" Target="../media/image11.png"/><Relationship Id="rId1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75698" y="-135386"/>
            <a:ext cx="18021827" cy="1906457"/>
            <a:chOff x="0" y="0"/>
            <a:chExt cx="24029102" cy="2541943"/>
          </a:xfrm>
        </p:grpSpPr>
        <p:sp>
          <p:nvSpPr>
            <p:cNvPr id="3" name="Freeform 3"/>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4" name="Freeform 4"/>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grpSp>
        <p:nvGrpSpPr>
          <p:cNvPr id="5" name="Group 5"/>
          <p:cNvGrpSpPr/>
          <p:nvPr/>
        </p:nvGrpSpPr>
        <p:grpSpPr>
          <a:xfrm>
            <a:off x="-3277" y="27818"/>
            <a:ext cx="18291277" cy="10287000"/>
            <a:chOff x="0" y="0"/>
            <a:chExt cx="24388369" cy="13716000"/>
          </a:xfrm>
        </p:grpSpPr>
        <p:sp>
          <p:nvSpPr>
            <p:cNvPr id="6" name="Freeform 6" descr="https://images.unsplash.com/photo-1635776062043-223faf322554?crop=entropy&amp;cs=tinysrgb&amp;fit=max&amp;fm=jpg&amp;ixid=M3wyMTIyMnwwfDF8c2VhcmNofDY4fHxncmFkaWVudHxlbnwwfHx8fDE2OTg3NDA1OTZ8MA&amp;ixlib=rb-4.0.3&amp;q=80&amp;w=1080"/>
            <p:cNvSpPr/>
            <p:nvPr/>
          </p:nvSpPr>
          <p:spPr>
            <a:xfrm>
              <a:off x="0" y="0"/>
              <a:ext cx="24388432" cy="13716000"/>
            </a:xfrm>
            <a:custGeom>
              <a:avLst/>
              <a:gdLst/>
              <a:ahLst/>
              <a:cxnLst/>
              <a:rect l="l" t="t" r="r" b="b"/>
              <a:pathLst>
                <a:path w="24388432" h="13716000">
                  <a:moveTo>
                    <a:pt x="0" y="0"/>
                  </a:moveTo>
                  <a:lnTo>
                    <a:pt x="24388432" y="0"/>
                  </a:lnTo>
                  <a:lnTo>
                    <a:pt x="24388432" y="13716000"/>
                  </a:lnTo>
                  <a:lnTo>
                    <a:pt x="0" y="13716000"/>
                  </a:lnTo>
                  <a:lnTo>
                    <a:pt x="0" y="0"/>
                  </a:lnTo>
                  <a:close/>
                </a:path>
              </a:pathLst>
            </a:custGeom>
            <a:gradFill rotWithShape="1">
              <a:gsLst>
                <a:gs pos="0">
                  <a:srgbClr val="FFF7AD">
                    <a:alpha val="100000"/>
                  </a:srgbClr>
                </a:gs>
                <a:gs pos="100000">
                  <a:srgbClr val="FFA9F9">
                    <a:alpha val="100000"/>
                  </a:srgbClr>
                </a:gs>
              </a:gsLst>
              <a:lin ang="0"/>
            </a:gradFill>
          </p:spPr>
        </p:sp>
      </p:grpSp>
      <p:sp>
        <p:nvSpPr>
          <p:cNvPr id="7" name="TextBox 7"/>
          <p:cNvSpPr txBox="1"/>
          <p:nvPr/>
        </p:nvSpPr>
        <p:spPr>
          <a:xfrm>
            <a:off x="5596763" y="267541"/>
            <a:ext cx="6664799" cy="1014423"/>
          </a:xfrm>
          <a:prstGeom prst="rect">
            <a:avLst/>
          </a:prstGeom>
        </p:spPr>
        <p:txBody>
          <a:bodyPr lIns="0" tIns="0" rIns="0" bIns="0" rtlCol="0" anchor="t">
            <a:spAutoFit/>
          </a:bodyPr>
          <a:lstStyle/>
          <a:p>
            <a:pPr algn="ctr">
              <a:lnSpc>
                <a:spcPts val="8495"/>
              </a:lnSpc>
            </a:pPr>
            <a:r>
              <a:rPr lang="en-US" sz="5507" b="1" u="sng">
                <a:solidFill>
                  <a:srgbClr val="2B2A35"/>
                </a:solidFill>
                <a:latin typeface="Fabrica Heavy"/>
                <a:ea typeface="Fabrica Heavy"/>
                <a:cs typeface="Fabrica Heavy"/>
                <a:sym typeface="Fabrica Heavy"/>
              </a:rPr>
              <a:t>INNOVATEX 5.0</a:t>
            </a:r>
          </a:p>
        </p:txBody>
      </p:sp>
      <p:sp>
        <p:nvSpPr>
          <p:cNvPr id="8" name="TextBox 8"/>
          <p:cNvSpPr txBox="1"/>
          <p:nvPr/>
        </p:nvSpPr>
        <p:spPr>
          <a:xfrm>
            <a:off x="1493560" y="1937955"/>
            <a:ext cx="13646689" cy="7938455"/>
          </a:xfrm>
          <a:prstGeom prst="rect">
            <a:avLst/>
          </a:prstGeom>
        </p:spPr>
        <p:txBody>
          <a:bodyPr lIns="0" tIns="0" rIns="0" bIns="0" rtlCol="0" anchor="t">
            <a:spAutoFit/>
          </a:bodyPr>
          <a:lstStyle/>
          <a:p>
            <a:pPr algn="l">
              <a:lnSpc>
                <a:spcPts val="5238"/>
              </a:lnSpc>
            </a:pPr>
            <a:r>
              <a:rPr lang="en-US" sz="3357" b="1" u="sng" dirty="0">
                <a:solidFill>
                  <a:srgbClr val="2B2A35"/>
                </a:solidFill>
                <a:latin typeface="Inter Bold"/>
                <a:ea typeface="Inter Bold"/>
                <a:cs typeface="Inter Bold"/>
                <a:sym typeface="Inter Bold"/>
              </a:rPr>
              <a:t>THEME: AI/ML </a:t>
            </a:r>
          </a:p>
          <a:p>
            <a:pPr algn="l">
              <a:lnSpc>
                <a:spcPts val="5238"/>
              </a:lnSpc>
            </a:pPr>
            <a:endParaRPr lang="en-US" sz="3357" b="1" u="sng" dirty="0">
              <a:solidFill>
                <a:srgbClr val="2B2A35"/>
              </a:solidFill>
              <a:latin typeface="Inter Bold"/>
              <a:ea typeface="Inter Bold"/>
              <a:cs typeface="Inter Bold"/>
              <a:sym typeface="Inter Bold"/>
            </a:endParaRPr>
          </a:p>
          <a:p>
            <a:pPr algn="l">
              <a:lnSpc>
                <a:spcPts val="5238"/>
              </a:lnSpc>
            </a:pPr>
            <a:r>
              <a:rPr lang="en-US" sz="3357" b="1" u="sng" dirty="0">
                <a:solidFill>
                  <a:srgbClr val="2B2A35"/>
                </a:solidFill>
                <a:latin typeface="Inter Bold"/>
                <a:ea typeface="Inter Bold"/>
                <a:cs typeface="Inter Bold"/>
                <a:sym typeface="Inter Bold"/>
              </a:rPr>
              <a:t>Team Name</a:t>
            </a:r>
            <a:r>
              <a:rPr lang="en-US" sz="3357" b="1" dirty="0">
                <a:solidFill>
                  <a:srgbClr val="2B2A35"/>
                </a:solidFill>
                <a:latin typeface="Inter Bold"/>
                <a:ea typeface="Inter Bold"/>
                <a:cs typeface="Inter Bold"/>
                <a:sym typeface="Inter Bold"/>
              </a:rPr>
              <a:t> : TECHZERO</a:t>
            </a:r>
          </a:p>
          <a:p>
            <a:pPr algn="l">
              <a:lnSpc>
                <a:spcPts val="5238"/>
              </a:lnSpc>
            </a:pPr>
            <a:endParaRPr lang="en-US" sz="3357" b="1" dirty="0">
              <a:solidFill>
                <a:srgbClr val="2B2A35"/>
              </a:solidFill>
              <a:latin typeface="Inter Bold"/>
              <a:ea typeface="Inter Bold"/>
              <a:cs typeface="Inter Bold"/>
              <a:sym typeface="Inter Bold"/>
            </a:endParaRPr>
          </a:p>
          <a:p>
            <a:pPr algn="l">
              <a:lnSpc>
                <a:spcPts val="5238"/>
              </a:lnSpc>
            </a:pPr>
            <a:r>
              <a:rPr lang="en-US" sz="3357" b="1" u="sng" dirty="0">
                <a:solidFill>
                  <a:srgbClr val="2B2A35"/>
                </a:solidFill>
                <a:latin typeface="Inter Bold"/>
                <a:ea typeface="Inter Bold"/>
                <a:cs typeface="Inter Bold"/>
                <a:sym typeface="Inter Bold"/>
              </a:rPr>
              <a:t>Problem Statement Title</a:t>
            </a:r>
            <a:r>
              <a:rPr lang="en-US" sz="3357" b="1" dirty="0">
                <a:solidFill>
                  <a:srgbClr val="2B2A35"/>
                </a:solidFill>
                <a:latin typeface="Inter Bold"/>
                <a:ea typeface="Inter Bold"/>
                <a:cs typeface="Inter Bold"/>
                <a:sym typeface="Inter Bold"/>
              </a:rPr>
              <a:t> : AI Based Early Warning System for Shipment Delays.</a:t>
            </a:r>
          </a:p>
          <a:p>
            <a:pPr algn="l">
              <a:lnSpc>
                <a:spcPts val="5238"/>
              </a:lnSpc>
            </a:pPr>
            <a:endParaRPr lang="en-US" sz="3357" b="1" dirty="0">
              <a:solidFill>
                <a:srgbClr val="2B2A35"/>
              </a:solidFill>
              <a:latin typeface="Inter Bold"/>
              <a:ea typeface="Inter Bold"/>
              <a:cs typeface="Inter Bold"/>
              <a:sym typeface="Inter Bold"/>
            </a:endParaRPr>
          </a:p>
          <a:p>
            <a:pPr algn="l">
              <a:lnSpc>
                <a:spcPts val="5238"/>
              </a:lnSpc>
            </a:pPr>
            <a:r>
              <a:rPr lang="en-US" sz="3357" b="1" u="sng" dirty="0">
                <a:solidFill>
                  <a:srgbClr val="2B2A35"/>
                </a:solidFill>
                <a:latin typeface="Inter Bold"/>
                <a:ea typeface="Inter Bold"/>
                <a:cs typeface="Inter Bold"/>
                <a:sym typeface="Inter Bold"/>
              </a:rPr>
              <a:t>Team Leader Name </a:t>
            </a:r>
            <a:r>
              <a:rPr lang="en-US" sz="3357" b="1" dirty="0">
                <a:solidFill>
                  <a:srgbClr val="2B2A35"/>
                </a:solidFill>
                <a:latin typeface="Inter Bold"/>
                <a:ea typeface="Inter Bold"/>
                <a:cs typeface="Inter Bold"/>
                <a:sym typeface="Inter Bold"/>
              </a:rPr>
              <a:t> : Soumya </a:t>
            </a:r>
            <a:r>
              <a:rPr lang="en-US" sz="3357" b="1" dirty="0" err="1">
                <a:solidFill>
                  <a:srgbClr val="2B2A35"/>
                </a:solidFill>
                <a:latin typeface="Inter Bold"/>
                <a:ea typeface="Inter Bold"/>
                <a:cs typeface="Inter Bold"/>
                <a:sym typeface="Inter Bold"/>
              </a:rPr>
              <a:t>Saswat</a:t>
            </a:r>
            <a:r>
              <a:rPr lang="en-US" sz="3357" b="1" dirty="0">
                <a:solidFill>
                  <a:srgbClr val="2B2A35"/>
                </a:solidFill>
                <a:latin typeface="Inter Bold"/>
                <a:ea typeface="Inter Bold"/>
                <a:cs typeface="Inter Bold"/>
                <a:sym typeface="Inter Bold"/>
              </a:rPr>
              <a:t> Sahoo</a:t>
            </a:r>
          </a:p>
          <a:p>
            <a:pPr algn="l">
              <a:lnSpc>
                <a:spcPts val="5238"/>
              </a:lnSpc>
            </a:pPr>
            <a:endParaRPr lang="en-US" sz="3357" b="1" dirty="0">
              <a:solidFill>
                <a:srgbClr val="2B2A35"/>
              </a:solidFill>
              <a:latin typeface="Inter Bold"/>
              <a:ea typeface="Inter Bold"/>
              <a:cs typeface="Inter Bold"/>
              <a:sym typeface="Inter Bold"/>
            </a:endParaRPr>
          </a:p>
          <a:p>
            <a:pPr algn="l">
              <a:lnSpc>
                <a:spcPts val="5238"/>
              </a:lnSpc>
            </a:pPr>
            <a:r>
              <a:rPr lang="en-US" sz="3357" b="1" u="sng" dirty="0">
                <a:solidFill>
                  <a:srgbClr val="2B2A35"/>
                </a:solidFill>
                <a:latin typeface="Inter Bold"/>
                <a:ea typeface="Inter Bold"/>
                <a:cs typeface="Inter Bold"/>
                <a:sym typeface="Inter Bold"/>
              </a:rPr>
              <a:t>Institute Name</a:t>
            </a:r>
            <a:r>
              <a:rPr lang="en-US" sz="3357" b="1" dirty="0">
                <a:solidFill>
                  <a:srgbClr val="2B2A35"/>
                </a:solidFill>
                <a:latin typeface="Inter Bold"/>
                <a:ea typeface="Inter Bold"/>
                <a:cs typeface="Inter Bold"/>
                <a:sym typeface="Inter Bold"/>
              </a:rPr>
              <a:t> : GITA Autonomous College </a:t>
            </a:r>
          </a:p>
          <a:p>
            <a:pPr algn="l">
              <a:lnSpc>
                <a:spcPts val="5238"/>
              </a:lnSpc>
            </a:pPr>
            <a:endParaRPr lang="en-US" sz="3357" b="1" dirty="0">
              <a:solidFill>
                <a:srgbClr val="2B2A35"/>
              </a:solidFill>
              <a:latin typeface="Inter Bold"/>
              <a:ea typeface="Inter Bold"/>
              <a:cs typeface="Inter Bold"/>
              <a:sym typeface="Inter Bold"/>
            </a:endParaRPr>
          </a:p>
          <a:p>
            <a:pPr algn="l">
              <a:lnSpc>
                <a:spcPts val="5238"/>
              </a:lnSpc>
            </a:pPr>
            <a:r>
              <a:rPr lang="en-US" sz="3357" b="1" u="sng" dirty="0">
                <a:solidFill>
                  <a:srgbClr val="2B2A35"/>
                </a:solidFill>
                <a:latin typeface="Inter Bold"/>
                <a:ea typeface="Inter Bold"/>
                <a:cs typeface="Inter Bold"/>
                <a:sym typeface="Inter Bold"/>
              </a:rPr>
              <a:t>Team Lead Contact Number</a:t>
            </a:r>
            <a:r>
              <a:rPr lang="en-US" sz="3357" b="1" dirty="0">
                <a:solidFill>
                  <a:srgbClr val="2B2A35"/>
                </a:solidFill>
                <a:latin typeface="Inter Bold"/>
                <a:ea typeface="Inter Bold"/>
                <a:cs typeface="Inter Bold"/>
                <a:sym typeface="Inter Bold"/>
              </a:rPr>
              <a:t>:  7847834847</a:t>
            </a:r>
          </a:p>
        </p:txBody>
      </p:sp>
      <p:sp>
        <p:nvSpPr>
          <p:cNvPr id="9" name="Freeform 9"/>
          <p:cNvSpPr/>
          <p:nvPr/>
        </p:nvSpPr>
        <p:spPr>
          <a:xfrm rot="-4152183">
            <a:off x="4025573" y="-1602159"/>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txBody>
          <a:bodyPr/>
          <a:lstStyle/>
          <a:p>
            <a:endParaRPr lang="en-IN" dirty="0"/>
          </a:p>
        </p:txBody>
      </p:sp>
      <p:grpSp>
        <p:nvGrpSpPr>
          <p:cNvPr id="10" name="Group 10"/>
          <p:cNvGrpSpPr/>
          <p:nvPr/>
        </p:nvGrpSpPr>
        <p:grpSpPr>
          <a:xfrm>
            <a:off x="428098" y="17014"/>
            <a:ext cx="18021827" cy="1906457"/>
            <a:chOff x="0" y="0"/>
            <a:chExt cx="24029102" cy="2541943"/>
          </a:xfrm>
        </p:grpSpPr>
        <p:sp>
          <p:nvSpPr>
            <p:cNvPr id="11" name="Freeform 11"/>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12" name="Freeform 12"/>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a:extLst>
            <a:ext uri="{FF2B5EF4-FFF2-40B4-BE49-F238E27FC236}">
              <a16:creationId xmlns:a16="http://schemas.microsoft.com/office/drawing/2014/main" id="{A4C3B03F-E995-EBBB-FBE5-2B6B63E91D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245528-3B42-1AB5-7BB8-7569D9AB4403}"/>
              </a:ext>
            </a:extLst>
          </p:cNvPr>
          <p:cNvGrpSpPr/>
          <p:nvPr/>
        </p:nvGrpSpPr>
        <p:grpSpPr>
          <a:xfrm>
            <a:off x="275698" y="-135386"/>
            <a:ext cx="18021827" cy="1906457"/>
            <a:chOff x="0" y="0"/>
            <a:chExt cx="24029102" cy="2541943"/>
          </a:xfrm>
        </p:grpSpPr>
        <p:sp>
          <p:nvSpPr>
            <p:cNvPr id="3" name="Freeform 3">
              <a:extLst>
                <a:ext uri="{FF2B5EF4-FFF2-40B4-BE49-F238E27FC236}">
                  <a16:creationId xmlns:a16="http://schemas.microsoft.com/office/drawing/2014/main" id="{6461806E-E805-554A-C86E-D838C0AF2BA1}"/>
                </a:ext>
              </a:extLst>
            </p:cNvPr>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D9CBFBF0-C25A-52C0-6009-791D921F23A3}"/>
                </a:ext>
              </a:extLst>
            </p:cNvPr>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sp>
        <p:nvSpPr>
          <p:cNvPr id="5" name="TextBox 5">
            <a:extLst>
              <a:ext uri="{FF2B5EF4-FFF2-40B4-BE49-F238E27FC236}">
                <a16:creationId xmlns:a16="http://schemas.microsoft.com/office/drawing/2014/main" id="{A983A674-E951-A45A-5075-14EB159D6F94}"/>
              </a:ext>
            </a:extLst>
          </p:cNvPr>
          <p:cNvSpPr txBox="1"/>
          <p:nvPr/>
        </p:nvSpPr>
        <p:spPr>
          <a:xfrm>
            <a:off x="2670048" y="436718"/>
            <a:ext cx="12801600" cy="972312"/>
          </a:xfrm>
          <a:prstGeom prst="rect">
            <a:avLst/>
          </a:prstGeom>
        </p:spPr>
        <p:txBody>
          <a:bodyPr lIns="0" tIns="0" rIns="0" bIns="0" rtlCol="0" anchor="t">
            <a:spAutoFit/>
          </a:bodyPr>
          <a:lstStyle/>
          <a:p>
            <a:pPr algn="ctr">
              <a:lnSpc>
                <a:spcPts val="8063"/>
              </a:lnSpc>
            </a:pPr>
            <a:r>
              <a:rPr lang="en-US" sz="5599" b="1" u="sng" dirty="0">
                <a:solidFill>
                  <a:srgbClr val="2B2A35"/>
                </a:solidFill>
                <a:latin typeface="Inter Bold"/>
                <a:ea typeface="Inter Bold"/>
                <a:cs typeface="Inter Bold"/>
                <a:sym typeface="Inter Bold"/>
              </a:rPr>
              <a:t>Problem Statement &amp; Objectives</a:t>
            </a:r>
          </a:p>
        </p:txBody>
      </p:sp>
      <p:sp>
        <p:nvSpPr>
          <p:cNvPr id="6" name="Freeform 6">
            <a:extLst>
              <a:ext uri="{FF2B5EF4-FFF2-40B4-BE49-F238E27FC236}">
                <a16:creationId xmlns:a16="http://schemas.microsoft.com/office/drawing/2014/main" id="{9A7B3D2F-19DB-0B66-7367-A90259227137}"/>
              </a:ext>
            </a:extLst>
          </p:cNvPr>
          <p:cNvSpPr/>
          <p:nvPr/>
        </p:nvSpPr>
        <p:spPr>
          <a:xfrm rot="-4152183">
            <a:off x="4532776" y="1217242"/>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8" name="TextBox 7">
            <a:extLst>
              <a:ext uri="{FF2B5EF4-FFF2-40B4-BE49-F238E27FC236}">
                <a16:creationId xmlns:a16="http://schemas.microsoft.com/office/drawing/2014/main" id="{A7D92523-BCDE-B932-952D-B904B57A865E}"/>
              </a:ext>
            </a:extLst>
          </p:cNvPr>
          <p:cNvSpPr txBox="1"/>
          <p:nvPr/>
        </p:nvSpPr>
        <p:spPr>
          <a:xfrm>
            <a:off x="245218" y="2019300"/>
            <a:ext cx="17830800" cy="2677656"/>
          </a:xfrm>
          <a:prstGeom prst="rect">
            <a:avLst/>
          </a:prstGeom>
          <a:noFill/>
        </p:spPr>
        <p:txBody>
          <a:bodyPr wrap="square">
            <a:spAutoFit/>
          </a:bodyPr>
          <a:lstStyle/>
          <a:p>
            <a:r>
              <a:rPr lang="en-IN" sz="2800" dirty="0"/>
              <a:t>The modern logistics industry faces significant challenges such as unexpected shipment delays, traffic congestion, adverse weather conditions, and inefficient route planning. Traditional logistics systems rely heavily on static planning and manual monitoring, which makes them unable to react quickly to disruptions.</a:t>
            </a:r>
          </a:p>
          <a:p>
            <a:r>
              <a:rPr lang="en-IN" sz="2800" dirty="0"/>
              <a:t>                                                                                                                            </a:t>
            </a:r>
          </a:p>
          <a:p>
            <a:r>
              <a:rPr lang="en-IN" sz="2800" dirty="0"/>
              <a:t>There is a need for an intelligent logistics system that can predict shipment delays, detect anomalies in routes, simulate possible disruptions, and automatically adapt routes to ensure timely delivery and operational efficiency.</a:t>
            </a:r>
          </a:p>
        </p:txBody>
      </p:sp>
      <p:sp>
        <p:nvSpPr>
          <p:cNvPr id="10" name="TextBox 9">
            <a:extLst>
              <a:ext uri="{FF2B5EF4-FFF2-40B4-BE49-F238E27FC236}">
                <a16:creationId xmlns:a16="http://schemas.microsoft.com/office/drawing/2014/main" id="{A767118A-534C-D7C3-26D9-67EFF3A562FF}"/>
              </a:ext>
            </a:extLst>
          </p:cNvPr>
          <p:cNvSpPr txBox="1"/>
          <p:nvPr/>
        </p:nvSpPr>
        <p:spPr>
          <a:xfrm>
            <a:off x="231648" y="5772800"/>
            <a:ext cx="17678400" cy="3970318"/>
          </a:xfrm>
          <a:prstGeom prst="rect">
            <a:avLst/>
          </a:prstGeom>
          <a:noFill/>
        </p:spPr>
        <p:txBody>
          <a:bodyPr wrap="square">
            <a:spAutoFit/>
          </a:bodyPr>
          <a:lstStyle/>
          <a:p>
            <a:r>
              <a:rPr lang="en-IN" sz="2800" dirty="0"/>
              <a:t>The main </a:t>
            </a:r>
            <a:r>
              <a:rPr lang="en-IN" sz="2800" b="1" dirty="0"/>
              <a:t>objectives</a:t>
            </a:r>
            <a:r>
              <a:rPr lang="en-IN" sz="2800" dirty="0"/>
              <a:t> of this project are:</a:t>
            </a:r>
          </a:p>
          <a:p>
            <a:endParaRPr lang="en-IN" sz="2800" dirty="0"/>
          </a:p>
          <a:p>
            <a:pPr marL="457200" indent="-457200">
              <a:buFont typeface="Wingdings" panose="05000000000000000000" pitchFamily="2" charset="2"/>
              <a:buChar char="Ø"/>
            </a:pPr>
            <a:r>
              <a:rPr lang="en-IN" sz="2800" dirty="0"/>
              <a:t>To develop an AI-based logistics delay prediction system using machine learning.</a:t>
            </a:r>
          </a:p>
          <a:p>
            <a:pPr marL="457200" indent="-457200">
              <a:buFont typeface="Wingdings" panose="05000000000000000000" pitchFamily="2" charset="2"/>
              <a:buChar char="q"/>
            </a:pPr>
            <a:endParaRPr lang="en-IN" sz="2800" dirty="0"/>
          </a:p>
          <a:p>
            <a:pPr marL="457200" indent="-457200">
              <a:buFont typeface="Wingdings" panose="05000000000000000000" pitchFamily="2" charset="2"/>
              <a:buChar char="Ø"/>
            </a:pPr>
            <a:r>
              <a:rPr lang="en-IN" sz="2800" dirty="0"/>
              <a:t>To </a:t>
            </a:r>
            <a:r>
              <a:rPr lang="en-IN" sz="2800" dirty="0" err="1"/>
              <a:t>analyze</a:t>
            </a:r>
            <a:r>
              <a:rPr lang="en-IN" sz="2800" dirty="0"/>
              <a:t> traffic and weather data to estimate shipment delay risk.</a:t>
            </a:r>
          </a:p>
          <a:p>
            <a:pPr marL="457200" indent="-457200">
              <a:buFont typeface="Wingdings" panose="05000000000000000000" pitchFamily="2" charset="2"/>
              <a:buChar char="q"/>
            </a:pPr>
            <a:endParaRPr lang="en-IN" sz="2800" dirty="0"/>
          </a:p>
          <a:p>
            <a:pPr marL="457200" indent="-457200">
              <a:buFont typeface="Wingdings" panose="05000000000000000000" pitchFamily="2" charset="2"/>
              <a:buChar char="Ø"/>
            </a:pPr>
            <a:r>
              <a:rPr lang="en-IN" sz="2800" dirty="0"/>
              <a:t>To implement AI Anomaly Detection to identify abnormal shipments or routes.</a:t>
            </a:r>
          </a:p>
          <a:p>
            <a:pPr marL="457200" indent="-457200">
              <a:buFont typeface="Wingdings" panose="05000000000000000000" pitchFamily="2" charset="2"/>
              <a:buChar char="q"/>
            </a:pPr>
            <a:endParaRPr lang="en-IN" sz="2800" dirty="0"/>
          </a:p>
          <a:p>
            <a:pPr marL="457200" indent="-457200">
              <a:buFont typeface="Wingdings" panose="05000000000000000000" pitchFamily="2" charset="2"/>
              <a:buChar char="Ø"/>
            </a:pPr>
            <a:r>
              <a:rPr lang="en-IN" sz="2800" dirty="0"/>
              <a:t>To simulate AI Disruption Scenarios such as heavy traffic or weather changes.</a:t>
            </a:r>
          </a:p>
        </p:txBody>
      </p:sp>
    </p:spTree>
    <p:extLst>
      <p:ext uri="{BB962C8B-B14F-4D97-AF65-F5344CB8AC3E}">
        <p14:creationId xmlns:p14="http://schemas.microsoft.com/office/powerpoint/2010/main" val="4126597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75698" y="-135386"/>
            <a:ext cx="18021827" cy="1906457"/>
            <a:chOff x="0" y="0"/>
            <a:chExt cx="24029102" cy="2541943"/>
          </a:xfrm>
        </p:grpSpPr>
        <p:sp>
          <p:nvSpPr>
            <p:cNvPr id="3" name="Freeform 3"/>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4" name="Freeform 4"/>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sp>
        <p:nvSpPr>
          <p:cNvPr id="5" name="Freeform 5"/>
          <p:cNvSpPr/>
          <p:nvPr/>
        </p:nvSpPr>
        <p:spPr>
          <a:xfrm rot="-4152183">
            <a:off x="4151775" y="531442"/>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US" sz="5599" b="1" u="sng" dirty="0">
                <a:solidFill>
                  <a:srgbClr val="2B2A35"/>
                </a:solidFill>
                <a:latin typeface="Inter Bold"/>
                <a:ea typeface="Inter Bold"/>
                <a:cs typeface="Inter Bold"/>
                <a:sym typeface="Inter Bold"/>
              </a:rPr>
              <a:t>Problem Understanding</a:t>
            </a:r>
          </a:p>
        </p:txBody>
      </p:sp>
      <p:sp>
        <p:nvSpPr>
          <p:cNvPr id="10" name="TextBox 9">
            <a:extLst>
              <a:ext uri="{FF2B5EF4-FFF2-40B4-BE49-F238E27FC236}">
                <a16:creationId xmlns:a16="http://schemas.microsoft.com/office/drawing/2014/main" id="{A44A7545-D9F4-044D-1CA3-6E851BD243F4}"/>
              </a:ext>
            </a:extLst>
          </p:cNvPr>
          <p:cNvSpPr txBox="1"/>
          <p:nvPr/>
        </p:nvSpPr>
        <p:spPr>
          <a:xfrm>
            <a:off x="533400" y="1552929"/>
            <a:ext cx="16810896" cy="8462009"/>
          </a:xfrm>
          <a:prstGeom prst="rect">
            <a:avLst/>
          </a:prstGeom>
          <a:noFill/>
        </p:spPr>
        <p:txBody>
          <a:bodyPr wrap="square">
            <a:spAutoFit/>
          </a:bodyPr>
          <a:lstStyle/>
          <a:p>
            <a:pPr>
              <a:buNone/>
            </a:pPr>
            <a:r>
              <a:rPr lang="en-US" sz="2800" b="1" dirty="0"/>
              <a:t>Key Factors Causing Delays</a:t>
            </a:r>
            <a:endParaRPr lang="en-US" sz="2800" dirty="0"/>
          </a:p>
          <a:p>
            <a:pPr marL="457200" indent="-457200">
              <a:buFont typeface="Wingdings" panose="05000000000000000000" pitchFamily="2" charset="2"/>
              <a:buChar char="Ø"/>
            </a:pPr>
            <a:r>
              <a:rPr lang="en-US" sz="2800" dirty="0"/>
              <a:t>Weather disruptions</a:t>
            </a:r>
          </a:p>
          <a:p>
            <a:pPr marL="457200" indent="-457200">
              <a:buFont typeface="Wingdings" panose="05000000000000000000" pitchFamily="2" charset="2"/>
              <a:buChar char="Ø"/>
            </a:pPr>
            <a:r>
              <a:rPr lang="en-US" sz="2800" dirty="0"/>
              <a:t>Port strikes or operational issues</a:t>
            </a:r>
          </a:p>
          <a:p>
            <a:pPr marL="457200" indent="-457200">
              <a:buFont typeface="Wingdings" panose="05000000000000000000" pitchFamily="2" charset="2"/>
              <a:buChar char="Ø"/>
            </a:pPr>
            <a:r>
              <a:rPr lang="en-US" sz="2800" dirty="0"/>
              <a:t>Traffic incidents</a:t>
            </a:r>
          </a:p>
          <a:p>
            <a:pPr marL="457200" indent="-457200">
              <a:buFont typeface="Wingdings" panose="05000000000000000000" pitchFamily="2" charset="2"/>
              <a:buChar char="Ø"/>
            </a:pPr>
            <a:r>
              <a:rPr lang="en-US" sz="2800" dirty="0"/>
              <a:t>External disruptions (news alerts, accidents)</a:t>
            </a:r>
          </a:p>
          <a:p>
            <a:pPr>
              <a:buFont typeface="Arial" panose="020B0604020202020204" pitchFamily="34" charset="0"/>
              <a:buChar char="•"/>
            </a:pPr>
            <a:endParaRPr lang="en-US" sz="2800" dirty="0"/>
          </a:p>
          <a:p>
            <a:pPr>
              <a:buNone/>
            </a:pPr>
            <a:r>
              <a:rPr lang="en-US" sz="2800" b="1" dirty="0"/>
              <a:t>Challenge</a:t>
            </a:r>
            <a:endParaRPr lang="en-US" sz="2800" dirty="0"/>
          </a:p>
          <a:p>
            <a:pPr marL="457200" indent="-457200">
              <a:buFont typeface="Wingdings" panose="05000000000000000000" pitchFamily="2" charset="2"/>
              <a:buChar char="Ø"/>
            </a:pPr>
            <a:r>
              <a:rPr lang="en-US" sz="2800" dirty="0"/>
              <a:t>Companies cannot predict delays early.</a:t>
            </a:r>
          </a:p>
          <a:p>
            <a:pPr marL="457200" indent="-457200">
              <a:buFont typeface="Wingdings" panose="05000000000000000000" pitchFamily="2" charset="2"/>
              <a:buChar char="Ø"/>
            </a:pPr>
            <a:r>
              <a:rPr lang="en-US" sz="2800" dirty="0"/>
              <a:t>Shipments may miss </a:t>
            </a:r>
            <a:r>
              <a:rPr lang="en-US" sz="2800" b="1" dirty="0"/>
              <a:t>SLA (Service Level Agreement)</a:t>
            </a:r>
            <a:r>
              <a:rPr lang="en-US" sz="2800" dirty="0"/>
              <a:t> commitments.</a:t>
            </a:r>
          </a:p>
          <a:p>
            <a:pPr>
              <a:buFont typeface="Arial" panose="020B0604020202020204" pitchFamily="34" charset="0"/>
              <a:buChar char="•"/>
            </a:pPr>
            <a:endParaRPr lang="en-US" sz="2800" dirty="0"/>
          </a:p>
          <a:p>
            <a:pPr>
              <a:buNone/>
            </a:pPr>
            <a:r>
              <a:rPr lang="en-US" sz="2800" b="1" dirty="0"/>
              <a:t>Goal of the System</a:t>
            </a:r>
            <a:endParaRPr lang="en-US" sz="2800" dirty="0"/>
          </a:p>
          <a:p>
            <a:pPr marL="914400" lvl="1" indent="-457200">
              <a:buFont typeface="Wingdings" panose="05000000000000000000" pitchFamily="2" charset="2"/>
              <a:buChar char="Ø"/>
            </a:pPr>
            <a:r>
              <a:rPr lang="en-US" sz="2800" dirty="0"/>
              <a:t>Build an </a:t>
            </a:r>
            <a:r>
              <a:rPr lang="en-US" sz="2800" b="1" dirty="0"/>
              <a:t>AI-based early warning system</a:t>
            </a:r>
            <a:r>
              <a:rPr lang="en-US" sz="2800" dirty="0"/>
              <a:t> to predict shipment delays </a:t>
            </a:r>
            <a:r>
              <a:rPr lang="en-US" sz="2800" b="1" dirty="0"/>
              <a:t>48–72 hours in advance</a:t>
            </a:r>
            <a:r>
              <a:rPr lang="en-US" sz="2800" dirty="0"/>
              <a:t>.</a:t>
            </a:r>
          </a:p>
          <a:p>
            <a:pPr>
              <a:buFont typeface="Arial" panose="020B0604020202020204" pitchFamily="34" charset="0"/>
              <a:buChar char="•"/>
            </a:pPr>
            <a:endParaRPr lang="en-US" sz="2800" dirty="0"/>
          </a:p>
          <a:p>
            <a:pPr>
              <a:buNone/>
            </a:pPr>
            <a:r>
              <a:rPr lang="en-US" sz="2800" b="1" dirty="0"/>
              <a:t>Expected Outcome</a:t>
            </a:r>
            <a:endParaRPr lang="en-US" sz="2800" dirty="0"/>
          </a:p>
          <a:p>
            <a:pPr marL="457200" indent="-457200">
              <a:buFont typeface="Wingdings" panose="05000000000000000000" pitchFamily="2" charset="2"/>
              <a:buChar char="Ø"/>
            </a:pPr>
            <a:r>
              <a:rPr lang="en-US" sz="2800" dirty="0"/>
              <a:t>Identify shipments at risk of delay.</a:t>
            </a:r>
          </a:p>
          <a:p>
            <a:pPr marL="457200" indent="-457200">
              <a:buFont typeface="Wingdings" panose="05000000000000000000" pitchFamily="2" charset="2"/>
              <a:buChar char="Ø"/>
            </a:pPr>
            <a:r>
              <a:rPr lang="en-US" sz="2800" dirty="0"/>
              <a:t>Provide recommendations such as:</a:t>
            </a:r>
          </a:p>
          <a:p>
            <a:pPr marL="914400" lvl="1" indent="-457200">
              <a:buFont typeface="Wingdings" panose="05000000000000000000" pitchFamily="2" charset="2"/>
              <a:buChar char="Ø"/>
            </a:pPr>
            <a:r>
              <a:rPr lang="en-US" sz="2800" dirty="0"/>
              <a:t>Rerouting shipments</a:t>
            </a:r>
          </a:p>
          <a:p>
            <a:pPr marL="914400" lvl="1" indent="-457200">
              <a:buFont typeface="Wingdings" panose="05000000000000000000" pitchFamily="2" charset="2"/>
              <a:buChar char="Ø"/>
            </a:pPr>
            <a:r>
              <a:rPr lang="en-US" sz="2800" dirty="0"/>
              <a:t>Assigning alternative carriers</a:t>
            </a:r>
          </a:p>
          <a:p>
            <a:pPr marL="914400" lvl="1" indent="-457200">
              <a:buFont typeface="Wingdings" panose="05000000000000000000" pitchFamily="2" charset="2"/>
              <a:buChar char="Ø"/>
            </a:pPr>
            <a:r>
              <a:rPr lang="en-US" sz="2800" dirty="0"/>
              <a:t>Sending pre-alert notifications.</a:t>
            </a:r>
          </a:p>
        </p:txBody>
      </p:sp>
      <p:pic>
        <p:nvPicPr>
          <p:cNvPr id="12" name="Picture 11">
            <a:extLst>
              <a:ext uri="{FF2B5EF4-FFF2-40B4-BE49-F238E27FC236}">
                <a16:creationId xmlns:a16="http://schemas.microsoft.com/office/drawing/2014/main" id="{6285F8CD-C91F-AF22-933E-D9EBBC5A841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867210" y="1636419"/>
            <a:ext cx="6722160" cy="4011571"/>
          </a:xfrm>
          <a:prstGeom prst="rect">
            <a:avLst/>
          </a:prstGeom>
          <a:solidFill>
            <a:schemeClr val="accent2">
              <a:lumMod val="60000"/>
              <a:lumOff val="40000"/>
            </a:schemeClr>
          </a:solidFill>
          <a:ln>
            <a:noFill/>
          </a:ln>
          <a:effectLst>
            <a:outerShdw blurRad="50800" dist="38100" dir="2700000" algn="tl" rotWithShape="0">
              <a:prstClr val="black">
                <a:alpha val="40000"/>
              </a:prstClr>
            </a:outerShdw>
            <a:reflection blurRad="6350" stA="50000" endA="300" endPos="55500" dist="50800" dir="5400000" sy="-100000" algn="bl" rotWithShape="0"/>
          </a:effectLst>
          <a:scene3d>
            <a:camera prst="orthographicFront">
              <a:rot lat="0" lon="0" rev="0"/>
            </a:camera>
            <a:lightRig rig="balanced" dir="t">
              <a:rot lat="0" lon="0" rev="8700000"/>
            </a:lightRig>
          </a:scene3d>
          <a:sp3d>
            <a:bevelT w="190500" h="38100"/>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75698" y="-135386"/>
            <a:ext cx="18021827" cy="1906457"/>
            <a:chOff x="0" y="0"/>
            <a:chExt cx="24029102" cy="2541943"/>
          </a:xfrm>
        </p:grpSpPr>
        <p:sp>
          <p:nvSpPr>
            <p:cNvPr id="3" name="Freeform 3"/>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4" name="Freeform 4"/>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sp>
        <p:nvSpPr>
          <p:cNvPr id="5" name="TextBox 5"/>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US" sz="5599" b="1" u="sng">
                <a:solidFill>
                  <a:srgbClr val="2B2A35"/>
                </a:solidFill>
                <a:latin typeface="Inter Bold"/>
                <a:ea typeface="Inter Bold"/>
                <a:cs typeface="Inter Bold"/>
                <a:sym typeface="Inter Bold"/>
              </a:rPr>
              <a:t>The Solution</a:t>
            </a:r>
          </a:p>
        </p:txBody>
      </p:sp>
      <p:sp>
        <p:nvSpPr>
          <p:cNvPr id="6" name="Freeform 6"/>
          <p:cNvSpPr/>
          <p:nvPr/>
        </p:nvSpPr>
        <p:spPr>
          <a:xfrm rot="-4152183">
            <a:off x="5990736" y="3262296"/>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7" name="Rectangle 1">
            <a:extLst>
              <a:ext uri="{FF2B5EF4-FFF2-40B4-BE49-F238E27FC236}">
                <a16:creationId xmlns:a16="http://schemas.microsoft.com/office/drawing/2014/main" id="{AEC630BD-AF00-BE8F-6A02-06CB6580ED2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4">
            <a:extLst>
              <a:ext uri="{FF2B5EF4-FFF2-40B4-BE49-F238E27FC236}">
                <a16:creationId xmlns:a16="http://schemas.microsoft.com/office/drawing/2014/main" id="{644E40F6-0733-9B31-0676-9A391DB0B313}"/>
              </a:ext>
            </a:extLst>
          </p:cNvPr>
          <p:cNvSpPr>
            <a:spLocks noChangeArrowheads="1"/>
          </p:cNvSpPr>
          <p:nvPr/>
        </p:nvSpPr>
        <p:spPr bwMode="auto">
          <a:xfrm>
            <a:off x="3091180" y="3016520"/>
            <a:ext cx="10701020" cy="5708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C592922C-EEF8-85F0-42A2-CE5D4C4900B3}"/>
              </a:ext>
            </a:extLst>
          </p:cNvPr>
          <p:cNvSpPr txBox="1"/>
          <p:nvPr/>
        </p:nvSpPr>
        <p:spPr>
          <a:xfrm>
            <a:off x="670112" y="1943306"/>
            <a:ext cx="9982200" cy="7848302"/>
          </a:xfrm>
          <a:prstGeom prst="rect">
            <a:avLst/>
          </a:prstGeom>
          <a:noFill/>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Our team proposes an </a:t>
            </a:r>
            <a:r>
              <a:rPr kumimoji="0" lang="en-US" altLang="en-US" sz="2800" b="1" i="0" u="none" strike="noStrike" cap="none" normalizeH="0" baseline="0" dirty="0">
                <a:ln>
                  <a:noFill/>
                </a:ln>
                <a:solidFill>
                  <a:schemeClr val="tx1"/>
                </a:solidFill>
                <a:effectLst/>
                <a:latin typeface="Arial" panose="020B0604020202020204" pitchFamily="34" charset="0"/>
              </a:rPr>
              <a:t>AI-based Early Warning System</a:t>
            </a:r>
            <a:r>
              <a:rPr kumimoji="0" lang="en-US" altLang="en-US" sz="2800" b="0" i="0" u="none" strike="noStrike" cap="none" normalizeH="0" baseline="0" dirty="0">
                <a:ln>
                  <a:noFill/>
                </a:ln>
                <a:solidFill>
                  <a:schemeClr val="tx1"/>
                </a:solidFill>
                <a:effectLst/>
                <a:latin typeface="Arial" panose="020B0604020202020204" pitchFamily="34" charset="0"/>
              </a:rPr>
              <a:t> that monitors shipment data and external factors in real time.</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The system analyzes inputs such as </a:t>
            </a:r>
            <a:r>
              <a:rPr kumimoji="0" lang="en-US" altLang="en-US" sz="2800" b="1" i="0" u="none" strike="noStrike" cap="none" normalizeH="0" baseline="0" dirty="0">
                <a:ln>
                  <a:noFill/>
                </a:ln>
                <a:solidFill>
                  <a:schemeClr val="tx1"/>
                </a:solidFill>
                <a:effectLst/>
                <a:latin typeface="Arial" panose="020B0604020202020204" pitchFamily="34" charset="0"/>
              </a:rPr>
              <a:t>shipment ETA, delay flags, weather conditions, traffic updates, and news alerts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Using </a:t>
            </a:r>
            <a:r>
              <a:rPr kumimoji="0" lang="en-US" altLang="en-US" sz="2800" b="1" i="0" u="none" strike="noStrike" cap="none" normalizeH="0" baseline="0" dirty="0">
                <a:ln>
                  <a:noFill/>
                </a:ln>
                <a:solidFill>
                  <a:schemeClr val="tx1"/>
                </a:solidFill>
                <a:effectLst/>
                <a:latin typeface="Arial" panose="020B0604020202020204" pitchFamily="34" charset="0"/>
              </a:rPr>
              <a:t>machine learning models</a:t>
            </a:r>
            <a:r>
              <a:rPr kumimoji="0" lang="en-US" altLang="en-US" sz="2800" b="0" i="0" u="none" strike="noStrike" cap="none" normalizeH="0" baseline="0" dirty="0">
                <a:ln>
                  <a:noFill/>
                </a:ln>
                <a:solidFill>
                  <a:schemeClr val="tx1"/>
                </a:solidFill>
                <a:effectLst/>
                <a:latin typeface="Arial" panose="020B0604020202020204" pitchFamily="34" charset="0"/>
              </a:rPr>
              <a:t>, it predicts which shipments are likely to miss their </a:t>
            </a:r>
            <a:r>
              <a:rPr kumimoji="0" lang="en-US" altLang="en-US" sz="2800" b="1" i="0" u="none" strike="noStrike" cap="none" normalizeH="0" baseline="0" dirty="0">
                <a:ln>
                  <a:noFill/>
                </a:ln>
                <a:solidFill>
                  <a:schemeClr val="tx1"/>
                </a:solidFill>
                <a:effectLst/>
                <a:latin typeface="Arial" panose="020B0604020202020204" pitchFamily="34" charset="0"/>
              </a:rPr>
              <a:t>SLA 48–72 hours in advance</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When a potential delay is detected, the system provides </a:t>
            </a:r>
            <a:r>
              <a:rPr kumimoji="0" lang="en-US" altLang="en-US" sz="2800" b="1" i="0" u="none" strike="noStrike" cap="none" normalizeH="0" baseline="0" dirty="0">
                <a:ln>
                  <a:noFill/>
                </a:ln>
                <a:solidFill>
                  <a:schemeClr val="tx1"/>
                </a:solidFill>
                <a:effectLst/>
                <a:latin typeface="Arial" panose="020B0604020202020204" pitchFamily="34" charset="0"/>
              </a:rPr>
              <a:t>recommended actions</a:t>
            </a:r>
            <a:r>
              <a:rPr kumimoji="0" lang="en-US" altLang="en-US" sz="2800" b="0" i="0" u="none" strike="noStrike" cap="none" normalizeH="0" baseline="0" dirty="0">
                <a:ln>
                  <a:noFill/>
                </a:ln>
                <a:solidFill>
                  <a:schemeClr val="tx1"/>
                </a:solidFill>
                <a:effectLst/>
                <a:latin typeface="Arial" panose="020B0604020202020204" pitchFamily="34" charset="0"/>
              </a:rPr>
              <a:t> like rerouting shipments, assigning alternative carriers, or sending pre-alerts.</a:t>
            </a: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800" b="0" i="0" u="none" strike="noStrike" cap="none" normalizeH="0" baseline="0" dirty="0">
                <a:ln>
                  <a:noFill/>
                </a:ln>
                <a:solidFill>
                  <a:schemeClr val="tx1"/>
                </a:solidFill>
                <a:effectLst/>
                <a:latin typeface="Arial" panose="020B0604020202020204" pitchFamily="34" charset="0"/>
              </a:rPr>
              <a:t>This helps logistics teams </a:t>
            </a:r>
            <a:r>
              <a:rPr kumimoji="0" lang="en-US" altLang="en-US" sz="2800" b="1" i="0" u="none" strike="noStrike" cap="none" normalizeH="0" baseline="0" dirty="0">
                <a:ln>
                  <a:noFill/>
                </a:ln>
                <a:solidFill>
                  <a:schemeClr val="tx1"/>
                </a:solidFill>
                <a:effectLst/>
                <a:latin typeface="Arial" panose="020B0604020202020204" pitchFamily="34" charset="0"/>
              </a:rPr>
              <a:t>take proactive decisions</a:t>
            </a:r>
            <a:r>
              <a:rPr kumimoji="0" lang="en-US" altLang="en-US" sz="2800" b="0" i="0" u="none" strike="noStrike" cap="none" normalizeH="0" baseline="0" dirty="0">
                <a:ln>
                  <a:noFill/>
                </a:ln>
                <a:solidFill>
                  <a:schemeClr val="tx1"/>
                </a:solidFill>
                <a:effectLst/>
                <a:latin typeface="Arial" panose="020B0604020202020204" pitchFamily="34" charset="0"/>
              </a:rPr>
              <a:t>, reduce delays, and improve </a:t>
            </a:r>
            <a:r>
              <a:rPr kumimoji="0" lang="en-US" altLang="en-US" sz="2800" b="1" i="0" u="none" strike="noStrike" cap="none" normalizeH="0" baseline="0" dirty="0">
                <a:ln>
                  <a:noFill/>
                </a:ln>
                <a:solidFill>
                  <a:schemeClr val="tx1"/>
                </a:solidFill>
                <a:effectLst/>
                <a:latin typeface="Arial" panose="020B0604020202020204" pitchFamily="34" charset="0"/>
              </a:rPr>
              <a:t>delivery reliability</a:t>
            </a:r>
            <a:r>
              <a:rPr kumimoji="0" lang="en-US" altLang="en-US" sz="2800" b="0" i="0" u="none" strike="noStrike" cap="none" normalizeH="0" baseline="0" dirty="0">
                <a:ln>
                  <a:noFill/>
                </a:ln>
                <a:solidFill>
                  <a:schemeClr val="tx1"/>
                </a:solidFill>
                <a:effectLst/>
                <a:latin typeface="Arial" panose="020B0604020202020204" pitchFamily="34" charset="0"/>
              </a:rPr>
              <a:t>.</a:t>
            </a:r>
          </a:p>
        </p:txBody>
      </p:sp>
      <p:pic>
        <p:nvPicPr>
          <p:cNvPr id="16" name="Picture 15">
            <a:extLst>
              <a:ext uri="{FF2B5EF4-FFF2-40B4-BE49-F238E27FC236}">
                <a16:creationId xmlns:a16="http://schemas.microsoft.com/office/drawing/2014/main" id="{3D657916-DBE1-5054-0D50-246C98BA82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52312" y="2054431"/>
            <a:ext cx="7467600" cy="5323899"/>
          </a:xfrm>
          <a:prstGeom prst="rect">
            <a:avLst/>
          </a:prstGeom>
          <a:solidFill>
            <a:schemeClr val="tx2"/>
          </a:solidFill>
          <a:ln>
            <a:noFill/>
          </a:ln>
          <a:effectLst>
            <a:reflection blurRad="6350" stA="50000" endA="300" endPos="38500" dist="50800" dir="5400000" sy="-100000" algn="bl" rotWithShape="0"/>
          </a:effectLst>
          <a:scene3d>
            <a:camera prst="orthographicFront">
              <a:rot lat="0" lon="0" rev="0"/>
            </a:camera>
            <a:lightRig rig="contrasting" dir="t">
              <a:rot lat="0" lon="0" rev="7800000"/>
            </a:lightRig>
          </a:scene3d>
          <a:sp3d>
            <a:bevelT w="139700" h="139700" prst="angle"/>
          </a:sp3d>
        </p:spPr>
        <p:style>
          <a:lnRef idx="0">
            <a:schemeClr val="accent1"/>
          </a:lnRef>
          <a:fillRef idx="3">
            <a:schemeClr val="accent1"/>
          </a:fillRef>
          <a:effectRef idx="3">
            <a:schemeClr val="accent1"/>
          </a:effectRef>
          <a:fontRef idx="minor">
            <a:schemeClr val="lt1"/>
          </a:fontRef>
        </p:style>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75698" y="-135386"/>
            <a:ext cx="18021827" cy="1906457"/>
            <a:chOff x="0" y="0"/>
            <a:chExt cx="24029102" cy="2541943"/>
          </a:xfrm>
        </p:grpSpPr>
        <p:sp>
          <p:nvSpPr>
            <p:cNvPr id="3" name="Freeform 3"/>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4" name="Freeform 4"/>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sp>
        <p:nvSpPr>
          <p:cNvPr id="5" name="TextBox 5"/>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US" sz="5599" b="1" u="sng" dirty="0" err="1">
                <a:solidFill>
                  <a:srgbClr val="2B2A35"/>
                </a:solidFill>
                <a:latin typeface="Inter Bold"/>
                <a:ea typeface="Inter Bold"/>
                <a:cs typeface="Inter Bold"/>
                <a:sym typeface="Inter Bold"/>
              </a:rPr>
              <a:t>WorkFlow</a:t>
            </a:r>
            <a:endParaRPr lang="en-US" sz="5599" b="1" u="sng" dirty="0">
              <a:solidFill>
                <a:srgbClr val="2B2A35"/>
              </a:solidFill>
              <a:latin typeface="Inter Bold"/>
              <a:ea typeface="Inter Bold"/>
              <a:cs typeface="Inter Bold"/>
              <a:sym typeface="Inter Bold"/>
            </a:endParaRPr>
          </a:p>
        </p:txBody>
      </p:sp>
      <p:sp>
        <p:nvSpPr>
          <p:cNvPr id="10" name="TextBox 9">
            <a:extLst>
              <a:ext uri="{FF2B5EF4-FFF2-40B4-BE49-F238E27FC236}">
                <a16:creationId xmlns:a16="http://schemas.microsoft.com/office/drawing/2014/main" id="{BAF87AA3-BBBA-8ED4-3C84-343418726EB2}"/>
              </a:ext>
            </a:extLst>
          </p:cNvPr>
          <p:cNvSpPr txBox="1"/>
          <p:nvPr/>
        </p:nvSpPr>
        <p:spPr>
          <a:xfrm>
            <a:off x="30842" y="5845807"/>
            <a:ext cx="2023974" cy="2677656"/>
          </a:xfrm>
          <a:prstGeom prst="rect">
            <a:avLst/>
          </a:prstGeom>
          <a:noFill/>
        </p:spPr>
        <p:txBody>
          <a:bodyPr wrap="square">
            <a:spAutoFit/>
          </a:bodyPr>
          <a:lstStyle/>
          <a:p>
            <a:pPr marL="342900" indent="-342900">
              <a:buFont typeface="Wingdings" panose="05000000000000000000" pitchFamily="2" charset="2"/>
              <a:buChar char="Ø"/>
            </a:pPr>
            <a:r>
              <a:rPr lang="en-US" sz="2400" dirty="0"/>
              <a:t>The user enters shipment details such as origin and destination.</a:t>
            </a:r>
            <a:endParaRPr lang="en-IN" sz="2400" dirty="0"/>
          </a:p>
        </p:txBody>
      </p:sp>
      <p:sp>
        <p:nvSpPr>
          <p:cNvPr id="13" name="Flowchart: Process 12">
            <a:extLst>
              <a:ext uri="{FF2B5EF4-FFF2-40B4-BE49-F238E27FC236}">
                <a16:creationId xmlns:a16="http://schemas.microsoft.com/office/drawing/2014/main" id="{7D9E961E-E9D5-888D-837D-7FFDDEEDC000}"/>
              </a:ext>
            </a:extLst>
          </p:cNvPr>
          <p:cNvSpPr/>
          <p:nvPr/>
        </p:nvSpPr>
        <p:spPr>
          <a:xfrm>
            <a:off x="6942" y="5788498"/>
            <a:ext cx="2045041" cy="3515567"/>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18" name="Flowchart: Process 17">
            <a:extLst>
              <a:ext uri="{FF2B5EF4-FFF2-40B4-BE49-F238E27FC236}">
                <a16:creationId xmlns:a16="http://schemas.microsoft.com/office/drawing/2014/main" id="{3FB1C296-C998-5C32-7E25-0D3CC8143684}"/>
              </a:ext>
            </a:extLst>
          </p:cNvPr>
          <p:cNvSpPr/>
          <p:nvPr/>
        </p:nvSpPr>
        <p:spPr>
          <a:xfrm>
            <a:off x="2109501" y="5778300"/>
            <a:ext cx="1884776" cy="3551935"/>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20" name="TextBox 19">
            <a:extLst>
              <a:ext uri="{FF2B5EF4-FFF2-40B4-BE49-F238E27FC236}">
                <a16:creationId xmlns:a16="http://schemas.microsoft.com/office/drawing/2014/main" id="{87317689-593E-FCED-7BAE-6BBE9535AF47}"/>
              </a:ext>
            </a:extLst>
          </p:cNvPr>
          <p:cNvSpPr txBox="1"/>
          <p:nvPr/>
        </p:nvSpPr>
        <p:spPr>
          <a:xfrm>
            <a:off x="2149381" y="5829697"/>
            <a:ext cx="1860136" cy="2677656"/>
          </a:xfrm>
          <a:prstGeom prst="rect">
            <a:avLst/>
          </a:prstGeom>
          <a:noFill/>
        </p:spPr>
        <p:txBody>
          <a:bodyPr wrap="square">
            <a:spAutoFit/>
          </a:bodyPr>
          <a:lstStyle/>
          <a:p>
            <a:pPr marL="342900" indent="-342900">
              <a:buFont typeface="Wingdings" panose="05000000000000000000" pitchFamily="2" charset="2"/>
              <a:buChar char="Ø"/>
            </a:pPr>
            <a:r>
              <a:rPr lang="en-US" sz="2400" dirty="0"/>
              <a:t>Possible delivery routes are generated using the routing API.</a:t>
            </a:r>
            <a:endParaRPr lang="en-IN" sz="2400" dirty="0"/>
          </a:p>
        </p:txBody>
      </p:sp>
      <p:sp>
        <p:nvSpPr>
          <p:cNvPr id="22" name="TextBox 21">
            <a:extLst>
              <a:ext uri="{FF2B5EF4-FFF2-40B4-BE49-F238E27FC236}">
                <a16:creationId xmlns:a16="http://schemas.microsoft.com/office/drawing/2014/main" id="{FB6A87B1-1921-4C39-1A31-EBA3FE52FB9C}"/>
              </a:ext>
            </a:extLst>
          </p:cNvPr>
          <p:cNvSpPr txBox="1"/>
          <p:nvPr/>
        </p:nvSpPr>
        <p:spPr>
          <a:xfrm>
            <a:off x="4011712" y="5814719"/>
            <a:ext cx="1700136" cy="3416320"/>
          </a:xfrm>
          <a:prstGeom prst="rect">
            <a:avLst/>
          </a:prstGeom>
          <a:noFill/>
        </p:spPr>
        <p:txBody>
          <a:bodyPr wrap="square">
            <a:spAutoFit/>
          </a:bodyPr>
          <a:lstStyle/>
          <a:p>
            <a:pPr marL="342900" indent="-342900">
              <a:buFont typeface="Wingdings" panose="05000000000000000000" pitchFamily="2" charset="2"/>
              <a:buChar char="Ø"/>
            </a:pPr>
            <a:r>
              <a:rPr lang="en-US" sz="2400" dirty="0"/>
              <a:t>Live weather and traffic data are fetched from external APIs.</a:t>
            </a:r>
            <a:endParaRPr lang="en-IN" sz="2400" dirty="0"/>
          </a:p>
        </p:txBody>
      </p:sp>
      <p:sp>
        <p:nvSpPr>
          <p:cNvPr id="23" name="Flowchart: Process 22">
            <a:extLst>
              <a:ext uri="{FF2B5EF4-FFF2-40B4-BE49-F238E27FC236}">
                <a16:creationId xmlns:a16="http://schemas.microsoft.com/office/drawing/2014/main" id="{D4B3C9FA-943F-6F04-962B-207EF9BA2BD5}"/>
              </a:ext>
            </a:extLst>
          </p:cNvPr>
          <p:cNvSpPr/>
          <p:nvPr/>
        </p:nvSpPr>
        <p:spPr>
          <a:xfrm>
            <a:off x="4030683" y="5788498"/>
            <a:ext cx="1745737" cy="3551935"/>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24" name="Flowchart: Process 23">
            <a:extLst>
              <a:ext uri="{FF2B5EF4-FFF2-40B4-BE49-F238E27FC236}">
                <a16:creationId xmlns:a16="http://schemas.microsoft.com/office/drawing/2014/main" id="{FE4BF644-7DA3-F904-AC0C-36DD99E3D1EA}"/>
              </a:ext>
            </a:extLst>
          </p:cNvPr>
          <p:cNvSpPr/>
          <p:nvPr/>
        </p:nvSpPr>
        <p:spPr>
          <a:xfrm>
            <a:off x="5840718" y="5793539"/>
            <a:ext cx="2104001" cy="3546894"/>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26" name="TextBox 25">
            <a:extLst>
              <a:ext uri="{FF2B5EF4-FFF2-40B4-BE49-F238E27FC236}">
                <a16:creationId xmlns:a16="http://schemas.microsoft.com/office/drawing/2014/main" id="{5FC5BC3E-7A30-10C1-AD25-4ECC20A4DD2E}"/>
              </a:ext>
            </a:extLst>
          </p:cNvPr>
          <p:cNvSpPr txBox="1"/>
          <p:nvPr/>
        </p:nvSpPr>
        <p:spPr>
          <a:xfrm>
            <a:off x="5771714" y="5829697"/>
            <a:ext cx="2113139" cy="3416320"/>
          </a:xfrm>
          <a:prstGeom prst="rect">
            <a:avLst/>
          </a:prstGeom>
          <a:noFill/>
        </p:spPr>
        <p:txBody>
          <a:bodyPr wrap="square">
            <a:spAutoFit/>
          </a:bodyPr>
          <a:lstStyle/>
          <a:p>
            <a:pPr marL="342900" indent="-342900">
              <a:buFont typeface="Wingdings" panose="05000000000000000000" pitchFamily="2" charset="2"/>
              <a:buChar char="Ø"/>
            </a:pPr>
            <a:r>
              <a:rPr lang="en-US" sz="2400" dirty="0"/>
              <a:t>Important features like distance, ETA, weather, and traffic are prepared for the model.</a:t>
            </a:r>
            <a:endParaRPr lang="en-IN" sz="2400" dirty="0"/>
          </a:p>
        </p:txBody>
      </p:sp>
      <p:sp>
        <p:nvSpPr>
          <p:cNvPr id="28" name="TextBox 27">
            <a:extLst>
              <a:ext uri="{FF2B5EF4-FFF2-40B4-BE49-F238E27FC236}">
                <a16:creationId xmlns:a16="http://schemas.microsoft.com/office/drawing/2014/main" id="{78F51D3A-8F96-D6CE-3AD6-CCEC3512C3B1}"/>
              </a:ext>
            </a:extLst>
          </p:cNvPr>
          <p:cNvSpPr txBox="1"/>
          <p:nvPr/>
        </p:nvSpPr>
        <p:spPr>
          <a:xfrm>
            <a:off x="7961053" y="5887745"/>
            <a:ext cx="1797695" cy="3416320"/>
          </a:xfrm>
          <a:prstGeom prst="rect">
            <a:avLst/>
          </a:prstGeom>
          <a:noFill/>
        </p:spPr>
        <p:txBody>
          <a:bodyPr wrap="square">
            <a:spAutoFit/>
          </a:bodyPr>
          <a:lstStyle/>
          <a:p>
            <a:pPr marL="342900" indent="-342900">
              <a:buFont typeface="Wingdings" panose="05000000000000000000" pitchFamily="2" charset="2"/>
              <a:buChar char="Ø"/>
            </a:pPr>
            <a:r>
              <a:rPr lang="en-US" sz="2400" dirty="0"/>
              <a:t>The </a:t>
            </a:r>
            <a:r>
              <a:rPr lang="en-US" sz="2400" b="1" dirty="0" err="1"/>
              <a:t>XGBoost</a:t>
            </a:r>
            <a:r>
              <a:rPr lang="en-US" sz="2400" dirty="0"/>
              <a:t> model analyzes shipment data to learn delay patterns.</a:t>
            </a:r>
            <a:endParaRPr lang="en-IN" sz="2400" dirty="0"/>
          </a:p>
        </p:txBody>
      </p:sp>
      <p:sp>
        <p:nvSpPr>
          <p:cNvPr id="29" name="Flowchart: Process 28">
            <a:extLst>
              <a:ext uri="{FF2B5EF4-FFF2-40B4-BE49-F238E27FC236}">
                <a16:creationId xmlns:a16="http://schemas.microsoft.com/office/drawing/2014/main" id="{15BAA8F4-EA77-7EBA-0CAB-380E701B4B60}"/>
              </a:ext>
            </a:extLst>
          </p:cNvPr>
          <p:cNvSpPr/>
          <p:nvPr/>
        </p:nvSpPr>
        <p:spPr>
          <a:xfrm>
            <a:off x="7987721" y="5778300"/>
            <a:ext cx="1713179" cy="3562132"/>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30" name="Flowchart: Process 29">
            <a:extLst>
              <a:ext uri="{FF2B5EF4-FFF2-40B4-BE49-F238E27FC236}">
                <a16:creationId xmlns:a16="http://schemas.microsoft.com/office/drawing/2014/main" id="{679AD9E9-1E56-9B88-3BA4-D9127E1046C9}"/>
              </a:ext>
            </a:extLst>
          </p:cNvPr>
          <p:cNvSpPr/>
          <p:nvPr/>
        </p:nvSpPr>
        <p:spPr>
          <a:xfrm>
            <a:off x="9735037" y="5778300"/>
            <a:ext cx="2046887" cy="3562132"/>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32" name="TextBox 31">
            <a:extLst>
              <a:ext uri="{FF2B5EF4-FFF2-40B4-BE49-F238E27FC236}">
                <a16:creationId xmlns:a16="http://schemas.microsoft.com/office/drawing/2014/main" id="{A32E30C4-E85F-4A2D-A33F-9E48BC817C90}"/>
              </a:ext>
            </a:extLst>
          </p:cNvPr>
          <p:cNvSpPr txBox="1"/>
          <p:nvPr/>
        </p:nvSpPr>
        <p:spPr>
          <a:xfrm>
            <a:off x="9758748" y="5887745"/>
            <a:ext cx="1964989" cy="3046988"/>
          </a:xfrm>
          <a:prstGeom prst="rect">
            <a:avLst/>
          </a:prstGeom>
          <a:noFill/>
        </p:spPr>
        <p:txBody>
          <a:bodyPr wrap="square">
            <a:spAutoFit/>
          </a:bodyPr>
          <a:lstStyle/>
          <a:p>
            <a:pPr marL="342900" indent="-342900">
              <a:buFont typeface="Wingdings" panose="05000000000000000000" pitchFamily="2" charset="2"/>
              <a:buChar char="Ø"/>
            </a:pPr>
            <a:r>
              <a:rPr lang="en-US" sz="2400" dirty="0"/>
              <a:t>The model predicts the probability of shipment delay for each route</a:t>
            </a:r>
            <a:r>
              <a:rPr lang="en-US" dirty="0"/>
              <a:t>.</a:t>
            </a:r>
            <a:endParaRPr lang="en-IN" dirty="0"/>
          </a:p>
        </p:txBody>
      </p:sp>
      <p:sp>
        <p:nvSpPr>
          <p:cNvPr id="37" name="TextBox 36">
            <a:extLst>
              <a:ext uri="{FF2B5EF4-FFF2-40B4-BE49-F238E27FC236}">
                <a16:creationId xmlns:a16="http://schemas.microsoft.com/office/drawing/2014/main" id="{4DACFD36-C5DC-FBC4-819B-F502E800320F}"/>
              </a:ext>
            </a:extLst>
          </p:cNvPr>
          <p:cNvSpPr txBox="1"/>
          <p:nvPr/>
        </p:nvSpPr>
        <p:spPr>
          <a:xfrm>
            <a:off x="11818330" y="5887745"/>
            <a:ext cx="2046887" cy="3046988"/>
          </a:xfrm>
          <a:prstGeom prst="rect">
            <a:avLst/>
          </a:prstGeom>
          <a:noFill/>
        </p:spPr>
        <p:txBody>
          <a:bodyPr wrap="square">
            <a:spAutoFit/>
          </a:bodyPr>
          <a:lstStyle/>
          <a:p>
            <a:pPr marL="342900" indent="-342900">
              <a:buFont typeface="Wingdings" panose="05000000000000000000" pitchFamily="2" charset="2"/>
              <a:buChar char="Ø"/>
            </a:pPr>
            <a:r>
              <a:rPr lang="en-US" sz="2400" dirty="0"/>
              <a:t>The system detects unusual patterns or unexpected disruptions in logistics data</a:t>
            </a:r>
            <a:r>
              <a:rPr lang="en-US" dirty="0"/>
              <a:t>.</a:t>
            </a:r>
            <a:endParaRPr lang="en-IN" dirty="0"/>
          </a:p>
        </p:txBody>
      </p:sp>
      <p:sp>
        <p:nvSpPr>
          <p:cNvPr id="39" name="TextBox 38">
            <a:extLst>
              <a:ext uri="{FF2B5EF4-FFF2-40B4-BE49-F238E27FC236}">
                <a16:creationId xmlns:a16="http://schemas.microsoft.com/office/drawing/2014/main" id="{6054B513-4241-9539-C1FB-E9F0A9CC7A86}"/>
              </a:ext>
            </a:extLst>
          </p:cNvPr>
          <p:cNvSpPr txBox="1"/>
          <p:nvPr/>
        </p:nvSpPr>
        <p:spPr>
          <a:xfrm>
            <a:off x="13925083" y="5805485"/>
            <a:ext cx="2088574" cy="3416320"/>
          </a:xfrm>
          <a:prstGeom prst="rect">
            <a:avLst/>
          </a:prstGeom>
          <a:noFill/>
        </p:spPr>
        <p:txBody>
          <a:bodyPr wrap="square">
            <a:spAutoFit/>
          </a:bodyPr>
          <a:lstStyle/>
          <a:p>
            <a:pPr marL="342900" indent="-342900">
              <a:buFont typeface="Wingdings" panose="05000000000000000000" pitchFamily="2" charset="2"/>
              <a:buChar char="Ø"/>
            </a:pPr>
            <a:r>
              <a:rPr lang="en-US" sz="2400" dirty="0"/>
              <a:t>Possible disruptions such as traffic jams or bad weather are simulated to test route reliability.</a:t>
            </a:r>
            <a:endParaRPr lang="en-IN" sz="2400" dirty="0"/>
          </a:p>
        </p:txBody>
      </p:sp>
      <p:sp>
        <p:nvSpPr>
          <p:cNvPr id="40" name="Flowchart: Process 39">
            <a:extLst>
              <a:ext uri="{FF2B5EF4-FFF2-40B4-BE49-F238E27FC236}">
                <a16:creationId xmlns:a16="http://schemas.microsoft.com/office/drawing/2014/main" id="{759420F1-B893-AAEA-03A5-6A079DD8983A}"/>
              </a:ext>
            </a:extLst>
          </p:cNvPr>
          <p:cNvSpPr/>
          <p:nvPr/>
        </p:nvSpPr>
        <p:spPr>
          <a:xfrm>
            <a:off x="13880457" y="5768104"/>
            <a:ext cx="2164314" cy="3562132"/>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41" name="Flowchart: Process 40">
            <a:extLst>
              <a:ext uri="{FF2B5EF4-FFF2-40B4-BE49-F238E27FC236}">
                <a16:creationId xmlns:a16="http://schemas.microsoft.com/office/drawing/2014/main" id="{B650AB6F-0D3B-9785-A528-17C3994E4F5D}"/>
              </a:ext>
            </a:extLst>
          </p:cNvPr>
          <p:cNvSpPr/>
          <p:nvPr/>
        </p:nvSpPr>
        <p:spPr>
          <a:xfrm>
            <a:off x="11849357" y="5778300"/>
            <a:ext cx="1954813" cy="3562132"/>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sp>
        <p:nvSpPr>
          <p:cNvPr id="43" name="TextBox 42">
            <a:extLst>
              <a:ext uri="{FF2B5EF4-FFF2-40B4-BE49-F238E27FC236}">
                <a16:creationId xmlns:a16="http://schemas.microsoft.com/office/drawing/2014/main" id="{7C6464DB-1559-6F49-02DF-39CE7C5ED2BE}"/>
              </a:ext>
            </a:extLst>
          </p:cNvPr>
          <p:cNvSpPr txBox="1"/>
          <p:nvPr/>
        </p:nvSpPr>
        <p:spPr>
          <a:xfrm>
            <a:off x="16069255" y="5829697"/>
            <a:ext cx="2164313" cy="3046988"/>
          </a:xfrm>
          <a:prstGeom prst="rect">
            <a:avLst/>
          </a:prstGeom>
          <a:noFill/>
        </p:spPr>
        <p:txBody>
          <a:bodyPr wrap="square">
            <a:spAutoFit/>
          </a:bodyPr>
          <a:lstStyle/>
          <a:p>
            <a:pPr marL="342900" indent="-342900">
              <a:buFont typeface="Wingdings" panose="05000000000000000000" pitchFamily="2" charset="2"/>
              <a:buChar char="Ø"/>
            </a:pPr>
            <a:r>
              <a:rPr lang="en-US" sz="2400" dirty="0"/>
              <a:t>The system recommends the safest and most efficient route based on risk scores</a:t>
            </a:r>
            <a:r>
              <a:rPr lang="en-US" dirty="0"/>
              <a:t>.</a:t>
            </a:r>
            <a:endParaRPr lang="en-IN" dirty="0"/>
          </a:p>
        </p:txBody>
      </p:sp>
      <p:sp>
        <p:nvSpPr>
          <p:cNvPr id="44" name="Flowchart: Process 43">
            <a:extLst>
              <a:ext uri="{FF2B5EF4-FFF2-40B4-BE49-F238E27FC236}">
                <a16:creationId xmlns:a16="http://schemas.microsoft.com/office/drawing/2014/main" id="{D3CD58C7-5BF0-F686-DEE2-2A15997977EE}"/>
              </a:ext>
            </a:extLst>
          </p:cNvPr>
          <p:cNvSpPr/>
          <p:nvPr/>
        </p:nvSpPr>
        <p:spPr>
          <a:xfrm>
            <a:off x="16139364" y="5741933"/>
            <a:ext cx="2024096" cy="3562132"/>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sz="3200" dirty="0"/>
          </a:p>
        </p:txBody>
      </p:sp>
      <p:pic>
        <p:nvPicPr>
          <p:cNvPr id="50" name="Picture 49">
            <a:extLst>
              <a:ext uri="{FF2B5EF4-FFF2-40B4-BE49-F238E27FC236}">
                <a16:creationId xmlns:a16="http://schemas.microsoft.com/office/drawing/2014/main" id="{C2BBE44C-C49F-0E6E-64D7-28A7887D62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917" y="-3403101"/>
            <a:ext cx="18415442" cy="122721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75698" y="-135386"/>
            <a:ext cx="18021827" cy="1906457"/>
            <a:chOff x="0" y="0"/>
            <a:chExt cx="24029102" cy="2541943"/>
          </a:xfrm>
        </p:grpSpPr>
        <p:sp>
          <p:nvSpPr>
            <p:cNvPr id="3" name="Freeform 3"/>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2"/>
              <a:stretch>
                <a:fillRect/>
              </a:stretch>
            </a:blipFill>
          </p:spPr>
        </p:sp>
        <p:sp>
          <p:nvSpPr>
            <p:cNvPr id="4" name="Freeform 4"/>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3"/>
              <a:stretch>
                <a:fillRect/>
              </a:stretch>
            </a:blipFill>
          </p:spPr>
        </p:sp>
      </p:grpSp>
      <p:sp>
        <p:nvSpPr>
          <p:cNvPr id="5" name="TextBox 5"/>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US" sz="5599" b="1" u="sng">
                <a:solidFill>
                  <a:srgbClr val="2B2A35"/>
                </a:solidFill>
                <a:latin typeface="Inter Bold"/>
                <a:ea typeface="Inter Bold"/>
                <a:cs typeface="Inter Bold"/>
                <a:sym typeface="Inter Bold"/>
              </a:rPr>
              <a:t>System Architecture</a:t>
            </a:r>
          </a:p>
        </p:txBody>
      </p:sp>
      <p:sp>
        <p:nvSpPr>
          <p:cNvPr id="6" name="Freeform 6"/>
          <p:cNvSpPr/>
          <p:nvPr/>
        </p:nvSpPr>
        <p:spPr>
          <a:xfrm rot="-4152183">
            <a:off x="3939848" y="329054"/>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10" name="TextBox 9">
            <a:extLst>
              <a:ext uri="{FF2B5EF4-FFF2-40B4-BE49-F238E27FC236}">
                <a16:creationId xmlns:a16="http://schemas.microsoft.com/office/drawing/2014/main" id="{54AF1626-0883-95C6-70D4-DA8E5F46703D}"/>
              </a:ext>
            </a:extLst>
          </p:cNvPr>
          <p:cNvSpPr txBox="1"/>
          <p:nvPr/>
        </p:nvSpPr>
        <p:spPr>
          <a:xfrm>
            <a:off x="228512" y="1825286"/>
            <a:ext cx="6937637" cy="2246769"/>
          </a:xfrm>
          <a:prstGeom prst="rect">
            <a:avLst/>
          </a:prstGeom>
          <a:noFill/>
        </p:spPr>
        <p:txBody>
          <a:bodyPr wrap="square">
            <a:spAutoFit/>
          </a:bodyPr>
          <a:lstStyle/>
          <a:p>
            <a:pPr>
              <a:buNone/>
            </a:pPr>
            <a:r>
              <a:rPr lang="en-US" sz="2800" b="1" dirty="0"/>
              <a:t>1. Data Input Layer</a:t>
            </a:r>
            <a:endParaRPr lang="en-US" sz="2800" dirty="0"/>
          </a:p>
          <a:p>
            <a:pPr marL="457200" indent="-457200">
              <a:buFont typeface="Wingdings" panose="05000000000000000000" pitchFamily="2" charset="2"/>
              <a:buChar char="Ø"/>
            </a:pPr>
            <a:r>
              <a:rPr lang="en-US" sz="2800" dirty="0"/>
              <a:t>Shipment origin &amp; destination</a:t>
            </a:r>
          </a:p>
          <a:p>
            <a:pPr marL="457200" indent="-457200">
              <a:buFont typeface="Wingdings" panose="05000000000000000000" pitchFamily="2" charset="2"/>
              <a:buChar char="Ø"/>
            </a:pPr>
            <a:r>
              <a:rPr lang="en-US" sz="2800" dirty="0"/>
              <a:t>Distance and ETA</a:t>
            </a:r>
          </a:p>
          <a:p>
            <a:pPr marL="457200" indent="-457200">
              <a:buFont typeface="Wingdings" panose="05000000000000000000" pitchFamily="2" charset="2"/>
              <a:buChar char="Ø"/>
            </a:pPr>
            <a:r>
              <a:rPr lang="en-US" sz="2800" dirty="0"/>
              <a:t>Carrier history</a:t>
            </a:r>
          </a:p>
          <a:p>
            <a:endParaRPr lang="en-IN" sz="2800" dirty="0"/>
          </a:p>
        </p:txBody>
      </p:sp>
      <p:sp>
        <p:nvSpPr>
          <p:cNvPr id="15" name="TextBox 14">
            <a:extLst>
              <a:ext uri="{FF2B5EF4-FFF2-40B4-BE49-F238E27FC236}">
                <a16:creationId xmlns:a16="http://schemas.microsoft.com/office/drawing/2014/main" id="{D666BCC1-25FC-F97E-B8CD-B46CF93D0685}"/>
              </a:ext>
            </a:extLst>
          </p:cNvPr>
          <p:cNvSpPr txBox="1"/>
          <p:nvPr/>
        </p:nvSpPr>
        <p:spPr>
          <a:xfrm>
            <a:off x="5610758" y="1624781"/>
            <a:ext cx="6601081" cy="2246769"/>
          </a:xfrm>
          <a:prstGeom prst="rect">
            <a:avLst/>
          </a:prstGeom>
          <a:noFill/>
        </p:spPr>
        <p:txBody>
          <a:bodyPr wrap="square">
            <a:spAutoFit/>
          </a:bodyPr>
          <a:lstStyle/>
          <a:p>
            <a:pPr>
              <a:buNone/>
            </a:pPr>
            <a:r>
              <a:rPr lang="en-US" sz="2800" b="1" dirty="0"/>
              <a:t>2. Data Processing</a:t>
            </a:r>
            <a:endParaRPr lang="en-US" sz="2800" dirty="0"/>
          </a:p>
          <a:p>
            <a:pPr marL="457200" indent="-457200">
              <a:buFont typeface="Wingdings" panose="05000000000000000000" pitchFamily="2" charset="2"/>
              <a:buChar char="Ø"/>
            </a:pPr>
            <a:r>
              <a:rPr lang="en-US" sz="2800" dirty="0"/>
              <a:t>Data cleaning and preprocessing</a:t>
            </a:r>
          </a:p>
          <a:p>
            <a:pPr marL="457200" indent="-457200">
              <a:buFont typeface="Wingdings" panose="05000000000000000000" pitchFamily="2" charset="2"/>
              <a:buChar char="Ø"/>
            </a:pPr>
            <a:r>
              <a:rPr lang="en-US" sz="2800" dirty="0"/>
              <a:t>Feature engineering using </a:t>
            </a:r>
            <a:r>
              <a:rPr lang="en-US" sz="2800" b="1" dirty="0"/>
              <a:t>Pandas &amp; NumPy</a:t>
            </a:r>
            <a:endParaRPr 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800" b="1"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TextBox 16">
            <a:extLst>
              <a:ext uri="{FF2B5EF4-FFF2-40B4-BE49-F238E27FC236}">
                <a16:creationId xmlns:a16="http://schemas.microsoft.com/office/drawing/2014/main" id="{ABA44EF2-DD51-18A1-7D8E-35CF7C0EFB57}"/>
              </a:ext>
            </a:extLst>
          </p:cNvPr>
          <p:cNvSpPr txBox="1"/>
          <p:nvPr/>
        </p:nvSpPr>
        <p:spPr>
          <a:xfrm>
            <a:off x="12514059" y="1493156"/>
            <a:ext cx="6251030" cy="1815882"/>
          </a:xfrm>
          <a:prstGeom prst="rect">
            <a:avLst/>
          </a:prstGeom>
          <a:noFill/>
        </p:spPr>
        <p:txBody>
          <a:bodyPr wrap="square">
            <a:spAutoFit/>
          </a:bodyPr>
          <a:lstStyle/>
          <a:p>
            <a:pPr>
              <a:buNone/>
            </a:pPr>
            <a:r>
              <a:rPr lang="en-US" sz="2800" b="1" dirty="0"/>
              <a:t>3. AI Prediction Layer</a:t>
            </a:r>
            <a:endParaRPr lang="en-US" sz="2800" dirty="0"/>
          </a:p>
          <a:p>
            <a:pPr marL="457200" indent="-457200">
              <a:buFont typeface="Wingdings" panose="05000000000000000000" pitchFamily="2" charset="2"/>
              <a:buChar char="Ø"/>
            </a:pPr>
            <a:r>
              <a:rPr lang="en-US" sz="2800" b="1" dirty="0" err="1"/>
              <a:t>XGBoost</a:t>
            </a:r>
            <a:r>
              <a:rPr lang="en-US" sz="2800" b="1" dirty="0"/>
              <a:t> model</a:t>
            </a:r>
            <a:r>
              <a:rPr lang="en-US" sz="2800" dirty="0"/>
              <a:t> analyzes processed data</a:t>
            </a:r>
          </a:p>
          <a:p>
            <a:pPr marL="457200" indent="-457200">
              <a:buFont typeface="Wingdings" panose="05000000000000000000" pitchFamily="2" charset="2"/>
              <a:buChar char="Ø"/>
            </a:pPr>
            <a:r>
              <a:rPr lang="en-US" sz="2800" dirty="0"/>
              <a:t>Predicts shipment </a:t>
            </a:r>
            <a:r>
              <a:rPr lang="en-US" sz="2800" b="1" dirty="0"/>
              <a:t>delay risk</a:t>
            </a:r>
            <a:endParaRPr lang="en-US" sz="2800" dirty="0"/>
          </a:p>
        </p:txBody>
      </p:sp>
      <p:sp>
        <p:nvSpPr>
          <p:cNvPr id="19" name="TextBox 18">
            <a:extLst>
              <a:ext uri="{FF2B5EF4-FFF2-40B4-BE49-F238E27FC236}">
                <a16:creationId xmlns:a16="http://schemas.microsoft.com/office/drawing/2014/main" id="{B192442F-AECB-A15B-8356-23B14A9775C5}"/>
              </a:ext>
            </a:extLst>
          </p:cNvPr>
          <p:cNvSpPr txBox="1"/>
          <p:nvPr/>
        </p:nvSpPr>
        <p:spPr>
          <a:xfrm>
            <a:off x="146157" y="5246222"/>
            <a:ext cx="4536730" cy="1384995"/>
          </a:xfrm>
          <a:prstGeom prst="rect">
            <a:avLst/>
          </a:prstGeom>
          <a:noFill/>
        </p:spPr>
        <p:txBody>
          <a:bodyPr wrap="square">
            <a:spAutoFit/>
          </a:bodyPr>
          <a:lstStyle/>
          <a:p>
            <a:pPr>
              <a:buNone/>
            </a:pPr>
            <a:r>
              <a:rPr lang="en-US" sz="2800" b="1" dirty="0"/>
              <a:t>4. Real-Time Data Integration</a:t>
            </a:r>
            <a:endParaRPr lang="en-US" sz="2800" dirty="0"/>
          </a:p>
          <a:p>
            <a:pPr marL="457200" indent="-457200">
              <a:buFont typeface="Wingdings" panose="05000000000000000000" pitchFamily="2" charset="2"/>
              <a:buChar char="Ø"/>
            </a:pPr>
            <a:r>
              <a:rPr lang="en-US" sz="2800" dirty="0"/>
              <a:t>Weather API</a:t>
            </a:r>
          </a:p>
          <a:p>
            <a:pPr marL="457200" indent="-457200">
              <a:buFont typeface="Wingdings" panose="05000000000000000000" pitchFamily="2" charset="2"/>
              <a:buChar char="Ø"/>
            </a:pPr>
            <a:r>
              <a:rPr lang="en-US" sz="2800" dirty="0"/>
              <a:t>Traffic API</a:t>
            </a:r>
          </a:p>
        </p:txBody>
      </p:sp>
      <p:pic>
        <p:nvPicPr>
          <p:cNvPr id="21" name="Picture 20">
            <a:extLst>
              <a:ext uri="{FF2B5EF4-FFF2-40B4-BE49-F238E27FC236}">
                <a16:creationId xmlns:a16="http://schemas.microsoft.com/office/drawing/2014/main" id="{E21E1777-0E41-0642-A6D8-FA63A8BA89D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65242" y="3871550"/>
            <a:ext cx="8564187" cy="3670366"/>
          </a:xfrm>
          <a:prstGeom prst="rect">
            <a:avLst/>
          </a:prstGeom>
          <a:effectLst>
            <a:outerShdw blurRad="40000" dist="23000" dir="5400000" rotWithShape="0">
              <a:srgbClr val="000000">
                <a:alpha val="35000"/>
              </a:srgbClr>
            </a:outerShdw>
            <a:reflection blurRad="6350" stA="50000" endA="300" endPos="38500" dist="50800" dir="5400000" sy="-100000" algn="bl" rotWithShape="0"/>
            <a:softEdge rad="31750"/>
          </a:effectLst>
          <a:scene3d>
            <a:camera prst="orthographicFront">
              <a:rot lat="0" lon="0" rev="0"/>
            </a:camera>
            <a:lightRig rig="threePt" dir="t">
              <a:rot lat="0" lon="0" rev="1200000"/>
            </a:lightRig>
          </a:scene3d>
          <a:sp3d>
            <a:bevelT w="63500" h="25400" prst="angle"/>
          </a:sp3d>
        </p:spPr>
        <p:style>
          <a:lnRef idx="0">
            <a:schemeClr val="dk1"/>
          </a:lnRef>
          <a:fillRef idx="3">
            <a:schemeClr val="dk1"/>
          </a:fillRef>
          <a:effectRef idx="3">
            <a:schemeClr val="dk1"/>
          </a:effectRef>
          <a:fontRef idx="minor">
            <a:schemeClr val="lt1"/>
          </a:fontRef>
        </p:style>
      </p:pic>
      <p:sp>
        <p:nvSpPr>
          <p:cNvPr id="23" name="TextBox 22">
            <a:extLst>
              <a:ext uri="{FF2B5EF4-FFF2-40B4-BE49-F238E27FC236}">
                <a16:creationId xmlns:a16="http://schemas.microsoft.com/office/drawing/2014/main" id="{A772CCB5-EFEE-A087-9837-AC7379615A94}"/>
              </a:ext>
            </a:extLst>
          </p:cNvPr>
          <p:cNvSpPr txBox="1"/>
          <p:nvPr/>
        </p:nvSpPr>
        <p:spPr>
          <a:xfrm>
            <a:off x="13494140" y="5275484"/>
            <a:ext cx="4803385" cy="1815882"/>
          </a:xfrm>
          <a:prstGeom prst="rect">
            <a:avLst/>
          </a:prstGeom>
          <a:noFill/>
        </p:spPr>
        <p:txBody>
          <a:bodyPr wrap="square">
            <a:spAutoFit/>
          </a:bodyPr>
          <a:lstStyle/>
          <a:p>
            <a:pPr>
              <a:buNone/>
            </a:pPr>
            <a:r>
              <a:rPr lang="en-US" sz="2800" b="1" dirty="0"/>
              <a:t>5. Route Optimization</a:t>
            </a:r>
            <a:endParaRPr lang="en-US" sz="2800" dirty="0"/>
          </a:p>
          <a:p>
            <a:pPr marL="457200" indent="-457200">
              <a:buFont typeface="Wingdings" panose="05000000000000000000" pitchFamily="2" charset="2"/>
              <a:buChar char="Ø"/>
            </a:pPr>
            <a:r>
              <a:rPr lang="en-US" sz="2800" dirty="0"/>
              <a:t>Route planning using </a:t>
            </a:r>
            <a:r>
              <a:rPr lang="en-US" sz="2800" b="1" dirty="0"/>
              <a:t>OSRM</a:t>
            </a:r>
            <a:endParaRPr lang="en-US" sz="2800" dirty="0"/>
          </a:p>
          <a:p>
            <a:pPr marL="457200" indent="-457200">
              <a:buFont typeface="Wingdings" panose="05000000000000000000" pitchFamily="2" charset="2"/>
              <a:buChar char="Ø"/>
            </a:pPr>
            <a:r>
              <a:rPr lang="en-US" sz="2800" dirty="0"/>
              <a:t>Distance and ETA calculation</a:t>
            </a:r>
          </a:p>
          <a:p>
            <a:pPr marL="457200" indent="-457200">
              <a:buFont typeface="Wingdings" panose="05000000000000000000" pitchFamily="2" charset="2"/>
              <a:buChar char="Ø"/>
            </a:pPr>
            <a:r>
              <a:rPr lang="en-US" sz="2800" dirty="0"/>
              <a:t>Traffic impact analysis</a:t>
            </a:r>
          </a:p>
        </p:txBody>
      </p:sp>
      <p:sp>
        <p:nvSpPr>
          <p:cNvPr id="25" name="TextBox 24">
            <a:extLst>
              <a:ext uri="{FF2B5EF4-FFF2-40B4-BE49-F238E27FC236}">
                <a16:creationId xmlns:a16="http://schemas.microsoft.com/office/drawing/2014/main" id="{65880260-4BFC-1BF5-6FBF-3112D3EC5244}"/>
              </a:ext>
            </a:extLst>
          </p:cNvPr>
          <p:cNvSpPr txBox="1"/>
          <p:nvPr/>
        </p:nvSpPr>
        <p:spPr>
          <a:xfrm>
            <a:off x="327119" y="7856515"/>
            <a:ext cx="4812943" cy="1815882"/>
          </a:xfrm>
          <a:prstGeom prst="rect">
            <a:avLst/>
          </a:prstGeom>
          <a:noFill/>
        </p:spPr>
        <p:txBody>
          <a:bodyPr wrap="square">
            <a:spAutoFit/>
          </a:bodyPr>
          <a:lstStyle/>
          <a:p>
            <a:pPr>
              <a:buNone/>
            </a:pPr>
            <a:r>
              <a:rPr lang="en-IN" sz="2800" b="1" dirty="0"/>
              <a:t>6. Intelligent Decision Layer</a:t>
            </a:r>
            <a:endParaRPr lang="en-IN" sz="2800" dirty="0"/>
          </a:p>
          <a:p>
            <a:pPr marL="457200" indent="-457200">
              <a:buFont typeface="Wingdings" panose="05000000000000000000" pitchFamily="2" charset="2"/>
              <a:buChar char="Ø"/>
            </a:pPr>
            <a:r>
              <a:rPr lang="en-IN" sz="2800" dirty="0"/>
              <a:t>AI anomaly detection</a:t>
            </a:r>
          </a:p>
          <a:p>
            <a:pPr marL="457200" indent="-457200">
              <a:buFont typeface="Wingdings" panose="05000000000000000000" pitchFamily="2" charset="2"/>
              <a:buChar char="Ø"/>
            </a:pPr>
            <a:r>
              <a:rPr lang="en-IN" sz="2800" dirty="0"/>
              <a:t>Disruption detection</a:t>
            </a:r>
          </a:p>
          <a:p>
            <a:pPr marL="457200" indent="-457200">
              <a:buFont typeface="Wingdings" panose="05000000000000000000" pitchFamily="2" charset="2"/>
              <a:buChar char="Ø"/>
            </a:pPr>
            <a:r>
              <a:rPr lang="en-IN" sz="2800" dirty="0"/>
              <a:t>Automatic route switching</a:t>
            </a:r>
          </a:p>
        </p:txBody>
      </p:sp>
      <p:sp>
        <p:nvSpPr>
          <p:cNvPr id="27" name="TextBox 26">
            <a:extLst>
              <a:ext uri="{FF2B5EF4-FFF2-40B4-BE49-F238E27FC236}">
                <a16:creationId xmlns:a16="http://schemas.microsoft.com/office/drawing/2014/main" id="{9D95030D-AFD6-F44D-5D48-266FE4526E2E}"/>
              </a:ext>
            </a:extLst>
          </p:cNvPr>
          <p:cNvSpPr txBox="1"/>
          <p:nvPr/>
        </p:nvSpPr>
        <p:spPr>
          <a:xfrm>
            <a:off x="13147940" y="8064749"/>
            <a:ext cx="5595582" cy="1815882"/>
          </a:xfrm>
          <a:prstGeom prst="rect">
            <a:avLst/>
          </a:prstGeom>
          <a:noFill/>
        </p:spPr>
        <p:txBody>
          <a:bodyPr wrap="square">
            <a:spAutoFit/>
          </a:bodyPr>
          <a:lstStyle/>
          <a:p>
            <a:pPr>
              <a:buNone/>
            </a:pPr>
            <a:r>
              <a:rPr lang="en-US" sz="2800" b="1" dirty="0"/>
              <a:t>7. Visualization &amp; Storage</a:t>
            </a:r>
            <a:endParaRPr lang="en-US" sz="2800" dirty="0"/>
          </a:p>
          <a:p>
            <a:pPr marL="457200" indent="-457200">
              <a:buFont typeface="Wingdings" panose="05000000000000000000" pitchFamily="2" charset="2"/>
              <a:buChar char="Ø"/>
            </a:pPr>
            <a:r>
              <a:rPr lang="en-US" sz="2800" dirty="0"/>
              <a:t>Interactive logistics dashboard</a:t>
            </a:r>
          </a:p>
          <a:p>
            <a:pPr marL="457200" indent="-457200">
              <a:buFont typeface="Wingdings" panose="05000000000000000000" pitchFamily="2" charset="2"/>
              <a:buChar char="Ø"/>
            </a:pPr>
            <a:r>
              <a:rPr lang="en-US" sz="2800" dirty="0"/>
              <a:t>Map-based monitoring</a:t>
            </a:r>
          </a:p>
          <a:p>
            <a:pPr marL="457200" indent="-457200">
              <a:buFont typeface="Wingdings" panose="05000000000000000000" pitchFamily="2" charset="2"/>
              <a:buChar char="Ø"/>
            </a:pPr>
            <a:r>
              <a:rPr lang="en-US" sz="2800" dirty="0"/>
              <a:t>Database storage for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a:extLst>
            <a:ext uri="{FF2B5EF4-FFF2-40B4-BE49-F238E27FC236}">
              <a16:creationId xmlns:a16="http://schemas.microsoft.com/office/drawing/2014/main" id="{BCBA1171-EA98-0AD7-8D71-48BD602F0A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1F5DE3A-55D4-A151-E55C-6469C16F92DA}"/>
              </a:ext>
            </a:extLst>
          </p:cNvPr>
          <p:cNvGrpSpPr/>
          <p:nvPr/>
        </p:nvGrpSpPr>
        <p:grpSpPr>
          <a:xfrm>
            <a:off x="275698" y="-135386"/>
            <a:ext cx="18021827" cy="1906457"/>
            <a:chOff x="0" y="0"/>
            <a:chExt cx="24029102" cy="2541943"/>
          </a:xfrm>
        </p:grpSpPr>
        <p:sp>
          <p:nvSpPr>
            <p:cNvPr id="3" name="Freeform 3">
              <a:extLst>
                <a:ext uri="{FF2B5EF4-FFF2-40B4-BE49-F238E27FC236}">
                  <a16:creationId xmlns:a16="http://schemas.microsoft.com/office/drawing/2014/main" id="{91F7EF88-462D-504A-4BA6-8563B754C336}"/>
                </a:ext>
              </a:extLst>
            </p:cNvPr>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72B169E9-718A-63E4-3FB6-00304E718143}"/>
                </a:ext>
              </a:extLst>
            </p:cNvPr>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sp>
        <p:nvSpPr>
          <p:cNvPr id="5" name="TextBox 5">
            <a:extLst>
              <a:ext uri="{FF2B5EF4-FFF2-40B4-BE49-F238E27FC236}">
                <a16:creationId xmlns:a16="http://schemas.microsoft.com/office/drawing/2014/main" id="{13A2A35A-DC53-1F39-4A9F-9D4BEFB80CD3}"/>
              </a:ext>
            </a:extLst>
          </p:cNvPr>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US" sz="5599" b="1" u="sng" dirty="0">
                <a:solidFill>
                  <a:srgbClr val="2B2A35"/>
                </a:solidFill>
                <a:latin typeface="Inter Bold"/>
                <a:ea typeface="Inter Bold"/>
                <a:cs typeface="Inter Bold"/>
                <a:sym typeface="Inter Bold"/>
              </a:rPr>
              <a:t>Tech stack</a:t>
            </a:r>
          </a:p>
        </p:txBody>
      </p:sp>
      <p:sp>
        <p:nvSpPr>
          <p:cNvPr id="6" name="Freeform 6">
            <a:extLst>
              <a:ext uri="{FF2B5EF4-FFF2-40B4-BE49-F238E27FC236}">
                <a16:creationId xmlns:a16="http://schemas.microsoft.com/office/drawing/2014/main" id="{CD5D3D47-1693-71AF-800C-3010942B24FB}"/>
              </a:ext>
            </a:extLst>
          </p:cNvPr>
          <p:cNvSpPr/>
          <p:nvPr/>
        </p:nvSpPr>
        <p:spPr>
          <a:xfrm rot="-4152183">
            <a:off x="4837574" y="333035"/>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5">
              <a:alphaModFix amt="47000"/>
              <a:extLst>
                <a:ext uri="{96DAC541-7B7A-43D3-8B79-37D633B846F1}">
                  <asvg:svgBlip xmlns:asvg="http://schemas.microsoft.com/office/drawing/2016/SVG/main" r:embed="rId6"/>
                </a:ext>
              </a:extLst>
            </a:blip>
            <a:stretch>
              <a:fillRect/>
            </a:stretch>
          </a:blipFill>
        </p:spPr>
      </p:sp>
      <p:sp>
        <p:nvSpPr>
          <p:cNvPr id="10" name="TextBox 9">
            <a:extLst>
              <a:ext uri="{FF2B5EF4-FFF2-40B4-BE49-F238E27FC236}">
                <a16:creationId xmlns:a16="http://schemas.microsoft.com/office/drawing/2014/main" id="{45CF2FFF-99CC-C5BE-5539-42AE7A73B191}"/>
              </a:ext>
            </a:extLst>
          </p:cNvPr>
          <p:cNvSpPr txBox="1"/>
          <p:nvPr/>
        </p:nvSpPr>
        <p:spPr>
          <a:xfrm>
            <a:off x="693759" y="1440462"/>
            <a:ext cx="10024334" cy="8710077"/>
          </a:xfrm>
          <a:prstGeom prst="rect">
            <a:avLst/>
          </a:prstGeom>
          <a:noFill/>
        </p:spPr>
        <p:txBody>
          <a:bodyPr wrap="square">
            <a:spAutoFit/>
          </a:bodyPr>
          <a:lstStyle/>
          <a:p>
            <a:pPr>
              <a:buNone/>
            </a:pPr>
            <a:r>
              <a:rPr lang="en-IN" sz="2800" dirty="0"/>
              <a:t>The system is built using a combination of machine learning, backend development, and real-time data integration technologies to enable intelligent logistics prediction, route optimization, and interactive visualization.</a:t>
            </a:r>
          </a:p>
          <a:p>
            <a:pPr>
              <a:buNone/>
            </a:pPr>
            <a:endParaRPr lang="en-IN" sz="2800" dirty="0"/>
          </a:p>
          <a:p>
            <a:pPr>
              <a:buNone/>
            </a:pPr>
            <a:r>
              <a:rPr lang="en-IN" sz="2800" dirty="0"/>
              <a:t>Then list the points:</a:t>
            </a:r>
          </a:p>
          <a:p>
            <a:pPr>
              <a:buNone/>
            </a:pPr>
            <a:endParaRPr lang="en-IN" sz="2800" dirty="0"/>
          </a:p>
          <a:p>
            <a:pPr marL="457200" indent="-457200">
              <a:buFont typeface="Wingdings" panose="05000000000000000000" pitchFamily="2" charset="2"/>
              <a:buChar char="Ø"/>
            </a:pPr>
            <a:r>
              <a:rPr lang="en-IN" sz="2800" b="1" dirty="0"/>
              <a:t>Python</a:t>
            </a:r>
            <a:r>
              <a:rPr lang="en-IN" sz="2800" dirty="0"/>
              <a:t> – core development</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r>
              <a:rPr lang="en-IN" sz="2800" b="1" dirty="0"/>
              <a:t>Flask</a:t>
            </a:r>
            <a:r>
              <a:rPr lang="en-IN" sz="2800" dirty="0"/>
              <a:t> – integration of back-end and front-end</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r>
              <a:rPr lang="en-IN" sz="2800" b="1" dirty="0"/>
              <a:t>Scikit-learn</a:t>
            </a:r>
            <a:r>
              <a:rPr lang="en-IN" sz="2800" dirty="0"/>
              <a:t> – powerful machine learning library</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r>
              <a:rPr lang="en-IN" sz="2800" b="1" dirty="0"/>
              <a:t>Pandas, NumPy </a:t>
            </a:r>
            <a:r>
              <a:rPr lang="en-IN" sz="2800" dirty="0"/>
              <a:t>– for numeric calculation </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r>
              <a:rPr lang="en-IN" sz="2800" b="1" dirty="0"/>
              <a:t>Folium</a:t>
            </a:r>
            <a:r>
              <a:rPr lang="en-IN" sz="2800" dirty="0"/>
              <a:t> – For real time interactive map visualization </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r>
              <a:rPr lang="en-IN" sz="2800" b="1" dirty="0"/>
              <a:t>Matplotlib</a:t>
            </a:r>
            <a:r>
              <a:rPr lang="en-IN" sz="2800" dirty="0"/>
              <a:t> – Plotting the </a:t>
            </a:r>
            <a:r>
              <a:rPr lang="en-IN" sz="2800" dirty="0" err="1"/>
              <a:t>datas</a:t>
            </a:r>
            <a:endParaRPr lang="en-IN" sz="2800" dirty="0"/>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r>
              <a:rPr lang="en-IN" sz="2800" b="1" dirty="0"/>
              <a:t>MongoDB</a:t>
            </a:r>
            <a:r>
              <a:rPr lang="en-IN" sz="2800" dirty="0"/>
              <a:t> – non-relational database</a:t>
            </a:r>
          </a:p>
        </p:txBody>
      </p:sp>
      <p:pic>
        <p:nvPicPr>
          <p:cNvPr id="12" name="Picture 11">
            <a:extLst>
              <a:ext uri="{FF2B5EF4-FFF2-40B4-BE49-F238E27FC236}">
                <a16:creationId xmlns:a16="http://schemas.microsoft.com/office/drawing/2014/main" id="{2D56733B-5149-97F5-6F9B-07C8263A4DD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899639" y="1552874"/>
            <a:ext cx="1357354" cy="1352196"/>
          </a:xfrm>
          <a:prstGeom prst="rect">
            <a:avLst/>
          </a:prstGeom>
          <a:effectLst>
            <a:outerShdw blurRad="50800" dist="38100" dir="2700000" algn="tl" rotWithShape="0">
              <a:prstClr val="black">
                <a:alpha val="40000"/>
              </a:prstClr>
            </a:outerShdw>
            <a:reflection blurRad="6350" stA="50000" endA="300" endPos="55500" dist="50800" dir="5400000" sy="-100000" algn="bl" rotWithShape="0"/>
          </a:effectLst>
          <a:scene3d>
            <a:camera prst="isometricOffAxis2Left"/>
            <a:lightRig rig="threePt" dir="t"/>
          </a:scene3d>
        </p:spPr>
      </p:pic>
      <p:pic>
        <p:nvPicPr>
          <p:cNvPr id="16" name="Picture 15">
            <a:extLst>
              <a:ext uri="{FF2B5EF4-FFF2-40B4-BE49-F238E27FC236}">
                <a16:creationId xmlns:a16="http://schemas.microsoft.com/office/drawing/2014/main" id="{D03F8BA0-3E72-CBD8-3433-02C8DC4815A0}"/>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212507" y="1931455"/>
            <a:ext cx="1357354" cy="1906457"/>
          </a:xfrm>
          <a:prstGeom prst="rect">
            <a:avLst/>
          </a:prstGeom>
          <a:effectLst/>
          <a:scene3d>
            <a:camera prst="isometricOffAxis2Left"/>
            <a:lightRig rig="threePt" dir="t"/>
          </a:scene3d>
        </p:spPr>
      </p:pic>
      <p:pic>
        <p:nvPicPr>
          <p:cNvPr id="18" name="Picture 17">
            <a:extLst>
              <a:ext uri="{FF2B5EF4-FFF2-40B4-BE49-F238E27FC236}">
                <a16:creationId xmlns:a16="http://schemas.microsoft.com/office/drawing/2014/main" id="{A20BA6DF-AEEA-2DA5-15A0-78E2B8A8596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488878" y="3412276"/>
            <a:ext cx="1899282" cy="2162664"/>
          </a:xfrm>
          <a:prstGeom prst="rect">
            <a:avLst/>
          </a:prstGeom>
          <a:effectLst>
            <a:reflection blurRad="6350" stA="52000" endA="300" endPos="35000" dir="5400000" sy="-100000" algn="bl" rotWithShape="0"/>
          </a:effectLst>
          <a:scene3d>
            <a:camera prst="isometricOffAxis2Left"/>
            <a:lightRig rig="threePt" dir="t"/>
          </a:scene3d>
        </p:spPr>
      </p:pic>
      <p:pic>
        <p:nvPicPr>
          <p:cNvPr id="20" name="Picture 19">
            <a:extLst>
              <a:ext uri="{FF2B5EF4-FFF2-40B4-BE49-F238E27FC236}">
                <a16:creationId xmlns:a16="http://schemas.microsoft.com/office/drawing/2014/main" id="{8C3AEF19-3081-4762-A7EC-B865ADA5D02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104743" y="4607462"/>
            <a:ext cx="2443163" cy="985838"/>
          </a:xfrm>
          <a:prstGeom prst="rect">
            <a:avLst/>
          </a:prstGeom>
          <a:effectLst>
            <a:reflection blurRad="6350" stA="52000" endA="300" endPos="35000" dir="5400000" sy="-100000" algn="bl" rotWithShape="0"/>
          </a:effectLst>
          <a:scene3d>
            <a:camera prst="isometricOffAxis2Left"/>
            <a:lightRig rig="threePt" dir="t"/>
          </a:scene3d>
        </p:spPr>
      </p:pic>
      <p:pic>
        <p:nvPicPr>
          <p:cNvPr id="22" name="Picture 21">
            <a:extLst>
              <a:ext uri="{FF2B5EF4-FFF2-40B4-BE49-F238E27FC236}">
                <a16:creationId xmlns:a16="http://schemas.microsoft.com/office/drawing/2014/main" id="{36EC4AAC-3353-B08C-571D-82E4BA5FED8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672061" y="5908522"/>
            <a:ext cx="2432682" cy="968026"/>
          </a:xfrm>
          <a:prstGeom prst="rect">
            <a:avLst/>
          </a:prstGeom>
          <a:effectLst>
            <a:reflection blurRad="6350" stA="52000" endA="300" endPos="35000" dir="5400000" sy="-100000" algn="bl" rotWithShape="0"/>
          </a:effectLst>
          <a:scene3d>
            <a:camera prst="isometricOffAxis2Left"/>
            <a:lightRig rig="threePt" dir="t"/>
          </a:scene3d>
        </p:spPr>
      </p:pic>
      <p:pic>
        <p:nvPicPr>
          <p:cNvPr id="26" name="Picture 25">
            <a:extLst>
              <a:ext uri="{FF2B5EF4-FFF2-40B4-BE49-F238E27FC236}">
                <a16:creationId xmlns:a16="http://schemas.microsoft.com/office/drawing/2014/main" id="{4ECBBE70-B88A-E735-EC29-D7548062977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5544800" y="7142866"/>
            <a:ext cx="2577438" cy="1523446"/>
          </a:xfrm>
          <a:prstGeom prst="rect">
            <a:avLst/>
          </a:prstGeom>
          <a:effectLst>
            <a:reflection blurRad="6350" stA="50000" endA="300" endPos="55000" dir="5400000" sy="-100000" algn="bl" rotWithShape="0"/>
          </a:effectLst>
          <a:scene3d>
            <a:camera prst="isometricOffAxis2Left"/>
            <a:lightRig rig="threePt" dir="t"/>
          </a:scene3d>
        </p:spPr>
      </p:pic>
      <p:pic>
        <p:nvPicPr>
          <p:cNvPr id="28" name="Graphic 27">
            <a:extLst>
              <a:ext uri="{FF2B5EF4-FFF2-40B4-BE49-F238E27FC236}">
                <a16:creationId xmlns:a16="http://schemas.microsoft.com/office/drawing/2014/main" id="{D4C3A0A2-96E0-4E2C-9B70-356C31D8726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012530" y="7648261"/>
            <a:ext cx="2776573" cy="538701"/>
          </a:xfrm>
          <a:prstGeom prst="rect">
            <a:avLst/>
          </a:prstGeom>
          <a:effectLst/>
          <a:scene3d>
            <a:camera prst="isometricOffAxis2Left"/>
            <a:lightRig rig="threePt" dir="t"/>
          </a:scene3d>
        </p:spPr>
      </p:pic>
      <p:pic>
        <p:nvPicPr>
          <p:cNvPr id="30" name="Picture 29">
            <a:extLst>
              <a:ext uri="{FF2B5EF4-FFF2-40B4-BE49-F238E27FC236}">
                <a16:creationId xmlns:a16="http://schemas.microsoft.com/office/drawing/2014/main" id="{CB60C8EB-0C9A-E7F9-A217-ACA3F76A3C05}"/>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3436861" y="8958676"/>
            <a:ext cx="2107939" cy="985837"/>
          </a:xfrm>
          <a:prstGeom prst="rect">
            <a:avLst/>
          </a:prstGeom>
          <a:effectLst>
            <a:reflection blurRad="6350" stA="52000" endA="300" endPos="35000" dir="5400000" sy="-100000" algn="bl" rotWithShape="0"/>
          </a:effectLst>
          <a:scene3d>
            <a:camera prst="isometricOffAxis2Left"/>
            <a:lightRig rig="threePt" dir="t"/>
          </a:scene3d>
        </p:spPr>
      </p:pic>
    </p:spTree>
    <p:extLst>
      <p:ext uri="{BB962C8B-B14F-4D97-AF65-F5344CB8AC3E}">
        <p14:creationId xmlns:p14="http://schemas.microsoft.com/office/powerpoint/2010/main" val="927118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75698" y="-135386"/>
            <a:ext cx="18021827" cy="1906457"/>
            <a:chOff x="0" y="0"/>
            <a:chExt cx="24029102" cy="2541943"/>
          </a:xfrm>
        </p:grpSpPr>
        <p:sp>
          <p:nvSpPr>
            <p:cNvPr id="3" name="Freeform 3"/>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2"/>
              <a:stretch>
                <a:fillRect/>
              </a:stretch>
            </a:blipFill>
          </p:spPr>
        </p:sp>
        <p:sp>
          <p:nvSpPr>
            <p:cNvPr id="4" name="Freeform 4"/>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3"/>
              <a:stretch>
                <a:fillRect/>
              </a:stretch>
            </a:blipFill>
          </p:spPr>
        </p:sp>
      </p:grpSp>
      <p:sp>
        <p:nvSpPr>
          <p:cNvPr id="5" name="TextBox 5"/>
          <p:cNvSpPr txBox="1"/>
          <p:nvPr/>
        </p:nvSpPr>
        <p:spPr>
          <a:xfrm>
            <a:off x="5029200" y="360261"/>
            <a:ext cx="7737737" cy="972312"/>
          </a:xfrm>
          <a:prstGeom prst="rect">
            <a:avLst/>
          </a:prstGeom>
        </p:spPr>
        <p:txBody>
          <a:bodyPr wrap="square" lIns="0" tIns="0" rIns="0" bIns="0" rtlCol="0" anchor="t">
            <a:spAutoFit/>
          </a:bodyPr>
          <a:lstStyle/>
          <a:p>
            <a:pPr algn="ctr">
              <a:lnSpc>
                <a:spcPts val="8063"/>
              </a:lnSpc>
            </a:pPr>
            <a:r>
              <a:rPr lang="en-US" sz="5599" b="1" u="sng" dirty="0">
                <a:solidFill>
                  <a:srgbClr val="2B2A35"/>
                </a:solidFill>
                <a:latin typeface="Inter Bold"/>
                <a:ea typeface="Inter Bold"/>
                <a:cs typeface="Inter Bold"/>
                <a:sym typeface="Inter Bold"/>
              </a:rPr>
              <a:t>Impact &amp; Benefits</a:t>
            </a:r>
          </a:p>
        </p:txBody>
      </p:sp>
      <p:sp>
        <p:nvSpPr>
          <p:cNvPr id="7" name="Flowchart: Process 6">
            <a:extLst>
              <a:ext uri="{FF2B5EF4-FFF2-40B4-BE49-F238E27FC236}">
                <a16:creationId xmlns:a16="http://schemas.microsoft.com/office/drawing/2014/main" id="{D8203A17-6052-100A-0084-180E5053041D}"/>
              </a:ext>
            </a:extLst>
          </p:cNvPr>
          <p:cNvSpPr/>
          <p:nvPr/>
        </p:nvSpPr>
        <p:spPr>
          <a:xfrm>
            <a:off x="529564" y="3400115"/>
            <a:ext cx="4864365" cy="1878494"/>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sz="2800" dirty="0"/>
              <a:t>AI-powered prediction using </a:t>
            </a:r>
            <a:r>
              <a:rPr lang="en-US" sz="2800" b="1" dirty="0" err="1"/>
              <a:t>XGBoost</a:t>
            </a:r>
            <a:r>
              <a:rPr lang="en-US" sz="2800" dirty="0"/>
              <a:t> helps identify shipments that may face delays before they happen</a:t>
            </a:r>
            <a:endParaRPr lang="en-IN" sz="2800" dirty="0"/>
          </a:p>
        </p:txBody>
      </p:sp>
      <p:sp>
        <p:nvSpPr>
          <p:cNvPr id="9" name="TextBox 8">
            <a:extLst>
              <a:ext uri="{FF2B5EF4-FFF2-40B4-BE49-F238E27FC236}">
                <a16:creationId xmlns:a16="http://schemas.microsoft.com/office/drawing/2014/main" id="{E0E3F860-771E-6108-596C-D784AC65380F}"/>
              </a:ext>
            </a:extLst>
          </p:cNvPr>
          <p:cNvSpPr txBox="1"/>
          <p:nvPr/>
        </p:nvSpPr>
        <p:spPr>
          <a:xfrm>
            <a:off x="584015" y="2853945"/>
            <a:ext cx="5836458" cy="461665"/>
          </a:xfrm>
          <a:prstGeom prst="rect">
            <a:avLst/>
          </a:prstGeom>
          <a:noFill/>
        </p:spPr>
        <p:txBody>
          <a:bodyPr wrap="square">
            <a:spAutoFit/>
          </a:bodyPr>
          <a:lstStyle/>
          <a:p>
            <a:r>
              <a:rPr lang="en-US" sz="2400" b="1" dirty="0"/>
              <a:t>1. Faster and More Reliable Deliveries </a:t>
            </a:r>
            <a:endParaRPr lang="en-IN" sz="2400" b="1" dirty="0"/>
          </a:p>
        </p:txBody>
      </p:sp>
      <p:sp>
        <p:nvSpPr>
          <p:cNvPr id="10" name="Arrow: Right 9">
            <a:extLst>
              <a:ext uri="{FF2B5EF4-FFF2-40B4-BE49-F238E27FC236}">
                <a16:creationId xmlns:a16="http://schemas.microsoft.com/office/drawing/2014/main" id="{AAFDFB79-78A0-564A-06BC-60C0B48C6C36}"/>
              </a:ext>
            </a:extLst>
          </p:cNvPr>
          <p:cNvSpPr/>
          <p:nvPr/>
        </p:nvSpPr>
        <p:spPr>
          <a:xfrm>
            <a:off x="14858" y="3919309"/>
            <a:ext cx="457200" cy="304800"/>
          </a:xfrm>
          <a:prstGeom prst="rightArrow">
            <a:avLst/>
          </a:prstGeom>
          <a:solidFill>
            <a:schemeClr val="accent3">
              <a:lumMod val="40000"/>
              <a:lumOff val="60000"/>
            </a:schemeClr>
          </a:solidFill>
          <a:ln/>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73268D27-0557-1F3F-C404-3A35FA7D9B84}"/>
              </a:ext>
            </a:extLst>
          </p:cNvPr>
          <p:cNvSpPr txBox="1"/>
          <p:nvPr/>
        </p:nvSpPr>
        <p:spPr>
          <a:xfrm>
            <a:off x="7854835" y="1660528"/>
            <a:ext cx="2474534" cy="646331"/>
          </a:xfrm>
          <a:prstGeom prst="rect">
            <a:avLst/>
          </a:prstGeom>
          <a:noFill/>
        </p:spPr>
        <p:txBody>
          <a:bodyPr wrap="square">
            <a:spAutoFit/>
          </a:bodyPr>
          <a:lstStyle/>
          <a:p>
            <a:r>
              <a:rPr kumimoji="0" lang="en-US" sz="3600" b="1" i="0" u="sng" strike="noStrike" kern="1200" cap="none" spc="0" normalizeH="0" baseline="0" noProof="0" dirty="0">
                <a:ln>
                  <a:noFill/>
                </a:ln>
                <a:solidFill>
                  <a:schemeClr val="tx1">
                    <a:lumMod val="65000"/>
                    <a:lumOff val="35000"/>
                  </a:schemeClr>
                </a:solidFill>
                <a:effectLst/>
                <a:uLnTx/>
                <a:uFillTx/>
                <a:latin typeface="Inter Bold"/>
                <a:ea typeface="Inter Bold"/>
                <a:cs typeface="Inter Bold"/>
                <a:sym typeface="Inter Bold"/>
              </a:rPr>
              <a:t>IMPACT</a:t>
            </a:r>
            <a:endParaRPr lang="en-IN" sz="3600" dirty="0">
              <a:solidFill>
                <a:schemeClr val="tx1">
                  <a:lumMod val="65000"/>
                  <a:lumOff val="35000"/>
                </a:schemeClr>
              </a:solidFill>
            </a:endParaRPr>
          </a:p>
        </p:txBody>
      </p:sp>
      <p:sp>
        <p:nvSpPr>
          <p:cNvPr id="16" name="TextBox 15">
            <a:extLst>
              <a:ext uri="{FF2B5EF4-FFF2-40B4-BE49-F238E27FC236}">
                <a16:creationId xmlns:a16="http://schemas.microsoft.com/office/drawing/2014/main" id="{3B28697D-A82B-C5C0-0765-537DE1311C76}"/>
              </a:ext>
            </a:extLst>
          </p:cNvPr>
          <p:cNvSpPr txBox="1"/>
          <p:nvPr/>
        </p:nvSpPr>
        <p:spPr>
          <a:xfrm>
            <a:off x="13131985" y="2780983"/>
            <a:ext cx="4572000" cy="461665"/>
          </a:xfrm>
          <a:prstGeom prst="rect">
            <a:avLst/>
          </a:prstGeom>
          <a:noFill/>
        </p:spPr>
        <p:txBody>
          <a:bodyPr wrap="square">
            <a:spAutoFit/>
          </a:bodyPr>
          <a:lstStyle/>
          <a:p>
            <a:r>
              <a:rPr lang="en-IN" sz="2400" b="1" dirty="0"/>
              <a:t>3. Reduced Operational Risks </a:t>
            </a:r>
          </a:p>
        </p:txBody>
      </p:sp>
      <p:sp>
        <p:nvSpPr>
          <p:cNvPr id="17" name="Flowchart: Process 16">
            <a:extLst>
              <a:ext uri="{FF2B5EF4-FFF2-40B4-BE49-F238E27FC236}">
                <a16:creationId xmlns:a16="http://schemas.microsoft.com/office/drawing/2014/main" id="{D2DFC850-E2B6-813A-02D1-232A1B361CA2}"/>
              </a:ext>
            </a:extLst>
          </p:cNvPr>
          <p:cNvSpPr/>
          <p:nvPr/>
        </p:nvSpPr>
        <p:spPr>
          <a:xfrm>
            <a:off x="6747014" y="3313074"/>
            <a:ext cx="5446772" cy="1983972"/>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0" name="Arrow: Right 19">
            <a:extLst>
              <a:ext uri="{FF2B5EF4-FFF2-40B4-BE49-F238E27FC236}">
                <a16:creationId xmlns:a16="http://schemas.microsoft.com/office/drawing/2014/main" id="{C20204B9-732A-F824-B591-BFA440AE302E}"/>
              </a:ext>
            </a:extLst>
          </p:cNvPr>
          <p:cNvSpPr/>
          <p:nvPr/>
        </p:nvSpPr>
        <p:spPr>
          <a:xfrm>
            <a:off x="6146938" y="3919309"/>
            <a:ext cx="519744" cy="304800"/>
          </a:xfrm>
          <a:prstGeom prst="rightArrow">
            <a:avLst/>
          </a:prstGeom>
          <a:solidFill>
            <a:schemeClr val="accent3">
              <a:lumMod val="40000"/>
              <a:lumOff val="6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C82C5D37-5F56-B3E8-87C6-A0E0A2996051}"/>
              </a:ext>
            </a:extLst>
          </p:cNvPr>
          <p:cNvSpPr txBox="1"/>
          <p:nvPr/>
        </p:nvSpPr>
        <p:spPr>
          <a:xfrm>
            <a:off x="13091692" y="3344619"/>
            <a:ext cx="5257799" cy="1815882"/>
          </a:xfrm>
          <a:prstGeom prst="rect">
            <a:avLst/>
          </a:prstGeom>
          <a:noFill/>
        </p:spPr>
        <p:txBody>
          <a:bodyPr wrap="square">
            <a:spAutoFit/>
          </a:bodyPr>
          <a:lstStyle/>
          <a:p>
            <a:r>
              <a:rPr lang="en-US" sz="2800" dirty="0"/>
              <a:t>AI anomaly detection identifies unusual shipment patterns and potential disruptions in the logistics network.</a:t>
            </a:r>
            <a:endParaRPr lang="en-IN" sz="2800" dirty="0"/>
          </a:p>
        </p:txBody>
      </p:sp>
      <p:sp>
        <p:nvSpPr>
          <p:cNvPr id="23" name="Flowchart: Process 22">
            <a:extLst>
              <a:ext uri="{FF2B5EF4-FFF2-40B4-BE49-F238E27FC236}">
                <a16:creationId xmlns:a16="http://schemas.microsoft.com/office/drawing/2014/main" id="{EB8AFB32-4689-8E5D-4638-504B01AC54FC}"/>
              </a:ext>
            </a:extLst>
          </p:cNvPr>
          <p:cNvSpPr/>
          <p:nvPr/>
        </p:nvSpPr>
        <p:spPr>
          <a:xfrm>
            <a:off x="12988165" y="3344619"/>
            <a:ext cx="4859640" cy="1983972"/>
          </a:xfrm>
          <a:prstGeom prst="flowChartProcess">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4" name="Arrow: Right 23">
            <a:extLst>
              <a:ext uri="{FF2B5EF4-FFF2-40B4-BE49-F238E27FC236}">
                <a16:creationId xmlns:a16="http://schemas.microsoft.com/office/drawing/2014/main" id="{9BD69A5F-83D5-FDCE-1958-D9C98A957600}"/>
              </a:ext>
            </a:extLst>
          </p:cNvPr>
          <p:cNvSpPr/>
          <p:nvPr/>
        </p:nvSpPr>
        <p:spPr>
          <a:xfrm>
            <a:off x="12448582" y="3907506"/>
            <a:ext cx="450041" cy="345054"/>
          </a:xfrm>
          <a:prstGeom prst="rightArrow">
            <a:avLst/>
          </a:prstGeom>
          <a:solidFill>
            <a:schemeClr val="accent3">
              <a:lumMod val="40000"/>
              <a:lumOff val="6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IN" dirty="0"/>
          </a:p>
        </p:txBody>
      </p:sp>
      <p:sp>
        <p:nvSpPr>
          <p:cNvPr id="26" name="TextBox 25">
            <a:extLst>
              <a:ext uri="{FF2B5EF4-FFF2-40B4-BE49-F238E27FC236}">
                <a16:creationId xmlns:a16="http://schemas.microsoft.com/office/drawing/2014/main" id="{95ECD90B-A80B-6D56-1E2F-6BFA0CD04E52}"/>
              </a:ext>
            </a:extLst>
          </p:cNvPr>
          <p:cNvSpPr txBox="1"/>
          <p:nvPr/>
        </p:nvSpPr>
        <p:spPr>
          <a:xfrm>
            <a:off x="7804245" y="5805576"/>
            <a:ext cx="2679510" cy="646331"/>
          </a:xfrm>
          <a:prstGeom prst="rect">
            <a:avLst/>
          </a:prstGeom>
          <a:noFill/>
        </p:spPr>
        <p:txBody>
          <a:bodyPr wrap="square">
            <a:spAutoFit/>
          </a:bodyPr>
          <a:lstStyle/>
          <a:p>
            <a:r>
              <a:rPr kumimoji="0" lang="en-US" sz="3600" b="1" i="0" u="sng" strike="noStrike" kern="1200" cap="none" spc="0" normalizeH="0" baseline="0" noProof="0" dirty="0">
                <a:ln>
                  <a:noFill/>
                </a:ln>
                <a:solidFill>
                  <a:schemeClr val="tx1">
                    <a:lumMod val="65000"/>
                    <a:lumOff val="35000"/>
                  </a:schemeClr>
                </a:solidFill>
                <a:effectLst/>
                <a:uLnTx/>
                <a:uFillTx/>
                <a:latin typeface="Inter Bold"/>
                <a:ea typeface="Inter Bold"/>
                <a:cs typeface="Inter Bold"/>
                <a:sym typeface="Inter Bold"/>
              </a:rPr>
              <a:t>BENEFITS</a:t>
            </a:r>
            <a:endParaRPr lang="en-IN" sz="3600" dirty="0">
              <a:solidFill>
                <a:schemeClr val="tx1">
                  <a:lumMod val="65000"/>
                  <a:lumOff val="35000"/>
                </a:schemeClr>
              </a:solidFill>
            </a:endParaRPr>
          </a:p>
        </p:txBody>
      </p:sp>
      <p:sp>
        <p:nvSpPr>
          <p:cNvPr id="28" name="TextBox 27">
            <a:extLst>
              <a:ext uri="{FF2B5EF4-FFF2-40B4-BE49-F238E27FC236}">
                <a16:creationId xmlns:a16="http://schemas.microsoft.com/office/drawing/2014/main" id="{E104955A-723C-8931-1503-472E77BD6889}"/>
              </a:ext>
            </a:extLst>
          </p:cNvPr>
          <p:cNvSpPr txBox="1"/>
          <p:nvPr/>
        </p:nvSpPr>
        <p:spPr>
          <a:xfrm>
            <a:off x="692886" y="6970890"/>
            <a:ext cx="4727280" cy="461665"/>
          </a:xfrm>
          <a:prstGeom prst="rect">
            <a:avLst/>
          </a:prstGeom>
          <a:noFill/>
        </p:spPr>
        <p:txBody>
          <a:bodyPr wrap="square">
            <a:spAutoFit/>
          </a:bodyPr>
          <a:lstStyle/>
          <a:p>
            <a:r>
              <a:rPr lang="en-US" sz="2400" b="1" dirty="0"/>
              <a:t>1. Optimized Route Selection </a:t>
            </a:r>
            <a:endParaRPr lang="en-IN" sz="2400" b="1" dirty="0"/>
          </a:p>
        </p:txBody>
      </p:sp>
      <p:sp>
        <p:nvSpPr>
          <p:cNvPr id="29" name="Rectangle 28">
            <a:extLst>
              <a:ext uri="{FF2B5EF4-FFF2-40B4-BE49-F238E27FC236}">
                <a16:creationId xmlns:a16="http://schemas.microsoft.com/office/drawing/2014/main" id="{BBC49919-241C-94AB-586D-D9BD5D26D742}"/>
              </a:ext>
            </a:extLst>
          </p:cNvPr>
          <p:cNvSpPr/>
          <p:nvPr/>
        </p:nvSpPr>
        <p:spPr>
          <a:xfrm>
            <a:off x="504164" y="7544159"/>
            <a:ext cx="5439719" cy="187849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1" name="TextBox 30">
            <a:extLst>
              <a:ext uri="{FF2B5EF4-FFF2-40B4-BE49-F238E27FC236}">
                <a16:creationId xmlns:a16="http://schemas.microsoft.com/office/drawing/2014/main" id="{80943248-FC06-0149-F4A5-DF78782C402B}"/>
              </a:ext>
            </a:extLst>
          </p:cNvPr>
          <p:cNvSpPr txBox="1"/>
          <p:nvPr/>
        </p:nvSpPr>
        <p:spPr>
          <a:xfrm>
            <a:off x="529564" y="7606770"/>
            <a:ext cx="5316393" cy="1815882"/>
          </a:xfrm>
          <a:prstGeom prst="rect">
            <a:avLst/>
          </a:prstGeom>
          <a:noFill/>
        </p:spPr>
        <p:txBody>
          <a:bodyPr wrap="square">
            <a:spAutoFit/>
          </a:bodyPr>
          <a:lstStyle/>
          <a:p>
            <a:r>
              <a:rPr lang="en-US" sz="2800" dirty="0"/>
              <a:t>Multiple routes generated using Open Source Routing Machine (OSRM) allow the system to choose the most efficient path.</a:t>
            </a:r>
            <a:endParaRPr lang="en-IN" sz="2800" dirty="0"/>
          </a:p>
        </p:txBody>
      </p:sp>
      <p:sp>
        <p:nvSpPr>
          <p:cNvPr id="32" name="Arrow: Right 31">
            <a:extLst>
              <a:ext uri="{FF2B5EF4-FFF2-40B4-BE49-F238E27FC236}">
                <a16:creationId xmlns:a16="http://schemas.microsoft.com/office/drawing/2014/main" id="{5822A452-5453-D4A3-A78B-25C9E9B16816}"/>
              </a:ext>
            </a:extLst>
          </p:cNvPr>
          <p:cNvSpPr/>
          <p:nvPr/>
        </p:nvSpPr>
        <p:spPr>
          <a:xfrm>
            <a:off x="46964" y="8086799"/>
            <a:ext cx="457200" cy="304800"/>
          </a:xfrm>
          <a:prstGeom prst="rightArrow">
            <a:avLst/>
          </a:prstGeom>
          <a:solidFill>
            <a:schemeClr val="accent3">
              <a:lumMod val="40000"/>
              <a:lumOff val="6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45AF2D91-3505-D562-F1CE-3734405DE142}"/>
              </a:ext>
            </a:extLst>
          </p:cNvPr>
          <p:cNvSpPr txBox="1"/>
          <p:nvPr/>
        </p:nvSpPr>
        <p:spPr>
          <a:xfrm>
            <a:off x="6949650" y="6969480"/>
            <a:ext cx="4835237" cy="461665"/>
          </a:xfrm>
          <a:prstGeom prst="rect">
            <a:avLst/>
          </a:prstGeom>
          <a:noFill/>
        </p:spPr>
        <p:txBody>
          <a:bodyPr wrap="square">
            <a:spAutoFit/>
          </a:bodyPr>
          <a:lstStyle/>
          <a:p>
            <a:r>
              <a:rPr lang="en-US" sz="2400" b="1" dirty="0"/>
              <a:t>2. Reduced Transportation Costs </a:t>
            </a:r>
            <a:endParaRPr lang="en-IN" sz="2400" b="1" dirty="0"/>
          </a:p>
        </p:txBody>
      </p:sp>
      <p:sp>
        <p:nvSpPr>
          <p:cNvPr id="36" name="TextBox 35">
            <a:extLst>
              <a:ext uri="{FF2B5EF4-FFF2-40B4-BE49-F238E27FC236}">
                <a16:creationId xmlns:a16="http://schemas.microsoft.com/office/drawing/2014/main" id="{2EBBA0D5-6D77-73B0-C0D9-4B56BF39C194}"/>
              </a:ext>
            </a:extLst>
          </p:cNvPr>
          <p:cNvSpPr txBox="1"/>
          <p:nvPr/>
        </p:nvSpPr>
        <p:spPr>
          <a:xfrm>
            <a:off x="6962350" y="7606769"/>
            <a:ext cx="5077250" cy="1384995"/>
          </a:xfrm>
          <a:prstGeom prst="rect">
            <a:avLst/>
          </a:prstGeom>
          <a:noFill/>
        </p:spPr>
        <p:txBody>
          <a:bodyPr wrap="square">
            <a:spAutoFit/>
          </a:bodyPr>
          <a:lstStyle/>
          <a:p>
            <a:r>
              <a:rPr lang="en-US" sz="2800" dirty="0"/>
              <a:t>Efficient routing lowers fuel consumption and minimizes unnecessary travel time.</a:t>
            </a:r>
            <a:endParaRPr lang="en-IN" sz="2800" dirty="0"/>
          </a:p>
        </p:txBody>
      </p:sp>
      <p:sp>
        <p:nvSpPr>
          <p:cNvPr id="41" name="TextBox 40">
            <a:extLst>
              <a:ext uri="{FF2B5EF4-FFF2-40B4-BE49-F238E27FC236}">
                <a16:creationId xmlns:a16="http://schemas.microsoft.com/office/drawing/2014/main" id="{9C979DE2-C960-D601-1004-1B70662F6F10}"/>
              </a:ext>
            </a:extLst>
          </p:cNvPr>
          <p:cNvSpPr txBox="1"/>
          <p:nvPr/>
        </p:nvSpPr>
        <p:spPr>
          <a:xfrm>
            <a:off x="13432367" y="6993599"/>
            <a:ext cx="4638667" cy="461665"/>
          </a:xfrm>
          <a:prstGeom prst="rect">
            <a:avLst/>
          </a:prstGeom>
          <a:noFill/>
        </p:spPr>
        <p:txBody>
          <a:bodyPr wrap="square">
            <a:spAutoFit/>
          </a:bodyPr>
          <a:lstStyle/>
          <a:p>
            <a:r>
              <a:rPr lang="en-IN" sz="2400" b="1" dirty="0"/>
              <a:t>3. Self-Healing Logistics System </a:t>
            </a:r>
          </a:p>
        </p:txBody>
      </p:sp>
      <p:sp>
        <p:nvSpPr>
          <p:cNvPr id="42" name="Rectangle 41">
            <a:extLst>
              <a:ext uri="{FF2B5EF4-FFF2-40B4-BE49-F238E27FC236}">
                <a16:creationId xmlns:a16="http://schemas.microsoft.com/office/drawing/2014/main" id="{18645EC1-2236-8FC0-90C0-B0A94B06064E}"/>
              </a:ext>
            </a:extLst>
          </p:cNvPr>
          <p:cNvSpPr/>
          <p:nvPr/>
        </p:nvSpPr>
        <p:spPr>
          <a:xfrm>
            <a:off x="6845426" y="7544159"/>
            <a:ext cx="4939462" cy="163227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43" name="Rectangle 42">
            <a:extLst>
              <a:ext uri="{FF2B5EF4-FFF2-40B4-BE49-F238E27FC236}">
                <a16:creationId xmlns:a16="http://schemas.microsoft.com/office/drawing/2014/main" id="{3DCBD131-F3CF-E42F-8371-4D4977AAD67C}"/>
              </a:ext>
            </a:extLst>
          </p:cNvPr>
          <p:cNvSpPr/>
          <p:nvPr/>
        </p:nvSpPr>
        <p:spPr>
          <a:xfrm>
            <a:off x="13347365" y="7629629"/>
            <a:ext cx="4808669" cy="1878494"/>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en-US" sz="2800" dirty="0"/>
              <a:t>When disruptions occur, the system automatically recommends alternative routes to maintain delivery efficiency.</a:t>
            </a:r>
            <a:endParaRPr lang="en-IN" sz="2800" dirty="0"/>
          </a:p>
        </p:txBody>
      </p:sp>
      <p:sp>
        <p:nvSpPr>
          <p:cNvPr id="58" name="Arrow: Right 57">
            <a:extLst>
              <a:ext uri="{FF2B5EF4-FFF2-40B4-BE49-F238E27FC236}">
                <a16:creationId xmlns:a16="http://schemas.microsoft.com/office/drawing/2014/main" id="{AC284F26-0FD3-8026-2117-B43B76235477}"/>
              </a:ext>
            </a:extLst>
          </p:cNvPr>
          <p:cNvSpPr/>
          <p:nvPr/>
        </p:nvSpPr>
        <p:spPr>
          <a:xfrm>
            <a:off x="6247878" y="8079179"/>
            <a:ext cx="519744" cy="304800"/>
          </a:xfrm>
          <a:prstGeom prst="rightArrow">
            <a:avLst/>
          </a:prstGeom>
          <a:solidFill>
            <a:schemeClr val="accent3">
              <a:lumMod val="40000"/>
              <a:lumOff val="6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IN"/>
          </a:p>
        </p:txBody>
      </p:sp>
      <p:sp>
        <p:nvSpPr>
          <p:cNvPr id="62" name="TextBox 61">
            <a:extLst>
              <a:ext uri="{FF2B5EF4-FFF2-40B4-BE49-F238E27FC236}">
                <a16:creationId xmlns:a16="http://schemas.microsoft.com/office/drawing/2014/main" id="{F4CD7DDB-1952-8F3D-E4BB-9F380F837508}"/>
              </a:ext>
            </a:extLst>
          </p:cNvPr>
          <p:cNvSpPr txBox="1"/>
          <p:nvPr/>
        </p:nvSpPr>
        <p:spPr>
          <a:xfrm>
            <a:off x="6806102" y="2740696"/>
            <a:ext cx="4572000" cy="461665"/>
          </a:xfrm>
          <a:prstGeom prst="rect">
            <a:avLst/>
          </a:prstGeom>
          <a:noFill/>
        </p:spPr>
        <p:txBody>
          <a:bodyPr wrap="square">
            <a:spAutoFit/>
          </a:bodyPr>
          <a:lstStyle/>
          <a:p>
            <a:r>
              <a:rPr lang="en-IN" sz="2400" b="1" dirty="0"/>
              <a:t>2. Real-Time Logistics Intelligence </a:t>
            </a:r>
          </a:p>
        </p:txBody>
      </p:sp>
      <p:sp>
        <p:nvSpPr>
          <p:cNvPr id="65" name="TextBox 64">
            <a:extLst>
              <a:ext uri="{FF2B5EF4-FFF2-40B4-BE49-F238E27FC236}">
                <a16:creationId xmlns:a16="http://schemas.microsoft.com/office/drawing/2014/main" id="{CF635097-9E93-7A41-8900-0888B8DD8F4A}"/>
              </a:ext>
            </a:extLst>
          </p:cNvPr>
          <p:cNvSpPr txBox="1"/>
          <p:nvPr/>
        </p:nvSpPr>
        <p:spPr>
          <a:xfrm>
            <a:off x="6858125" y="3481164"/>
            <a:ext cx="5181475" cy="1815882"/>
          </a:xfrm>
          <a:prstGeom prst="rect">
            <a:avLst/>
          </a:prstGeom>
          <a:noFill/>
        </p:spPr>
        <p:txBody>
          <a:bodyPr wrap="square">
            <a:spAutoFit/>
          </a:bodyPr>
          <a:lstStyle/>
          <a:p>
            <a:r>
              <a:rPr lang="en-US" sz="2800" dirty="0"/>
              <a:t>Integration with </a:t>
            </a:r>
            <a:r>
              <a:rPr lang="en-US" sz="2800" b="1" dirty="0" err="1"/>
              <a:t>OpenWeather</a:t>
            </a:r>
            <a:r>
              <a:rPr lang="en-US" sz="2800" b="1" dirty="0"/>
              <a:t> API</a:t>
            </a:r>
            <a:r>
              <a:rPr lang="en-US" sz="2800" dirty="0"/>
              <a:t> and </a:t>
            </a:r>
            <a:r>
              <a:rPr lang="en-US" sz="2800" b="1" dirty="0"/>
              <a:t>TomTom Traffic API</a:t>
            </a:r>
            <a:r>
              <a:rPr lang="en-US" sz="2800" dirty="0"/>
              <a:t> enables real-time monitoring of weather and traffic conditions</a:t>
            </a:r>
            <a:endParaRPr lang="en-IN" sz="2800" dirty="0"/>
          </a:p>
        </p:txBody>
      </p:sp>
      <p:sp>
        <p:nvSpPr>
          <p:cNvPr id="66" name="Arrow: Right 65">
            <a:extLst>
              <a:ext uri="{FF2B5EF4-FFF2-40B4-BE49-F238E27FC236}">
                <a16:creationId xmlns:a16="http://schemas.microsoft.com/office/drawing/2014/main" id="{FBF11619-0B6D-FFD1-19D3-3C8819ACE904}"/>
              </a:ext>
            </a:extLst>
          </p:cNvPr>
          <p:cNvSpPr/>
          <p:nvPr/>
        </p:nvSpPr>
        <p:spPr>
          <a:xfrm>
            <a:off x="12650383" y="8052446"/>
            <a:ext cx="553569" cy="373506"/>
          </a:xfrm>
          <a:prstGeom prst="rightArrow">
            <a:avLst/>
          </a:prstGeom>
          <a:solidFill>
            <a:schemeClr val="accent3">
              <a:lumMod val="40000"/>
              <a:lumOff val="60000"/>
            </a:schemeClr>
          </a:solidFill>
        </p:spPr>
        <p:style>
          <a:lnRef idx="0">
            <a:schemeClr val="dk1"/>
          </a:lnRef>
          <a:fillRef idx="3">
            <a:schemeClr val="dk1"/>
          </a:fillRef>
          <a:effectRef idx="3">
            <a:schemeClr val="dk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275698" y="-135386"/>
            <a:ext cx="18021827" cy="1906457"/>
            <a:chOff x="0" y="0"/>
            <a:chExt cx="24029102" cy="2541943"/>
          </a:xfrm>
        </p:grpSpPr>
        <p:sp>
          <p:nvSpPr>
            <p:cNvPr id="3" name="Freeform 3"/>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2"/>
              <a:stretch>
                <a:fillRect/>
              </a:stretch>
            </a:blipFill>
          </p:spPr>
        </p:sp>
        <p:sp>
          <p:nvSpPr>
            <p:cNvPr id="4" name="Freeform 4"/>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3"/>
              <a:stretch>
                <a:fillRect/>
              </a:stretch>
            </a:blipFill>
          </p:spPr>
        </p:sp>
      </p:grpSp>
      <p:sp>
        <p:nvSpPr>
          <p:cNvPr id="5" name="TextBox 5"/>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US" sz="5599" b="1" u="sng" dirty="0">
                <a:solidFill>
                  <a:srgbClr val="2B2A35"/>
                </a:solidFill>
                <a:latin typeface="Inter Bold"/>
                <a:ea typeface="Inter Bold"/>
                <a:cs typeface="Inter Bold"/>
                <a:sym typeface="Inter Bold"/>
              </a:rPr>
              <a:t>Challenges Faced &amp; Solutions</a:t>
            </a:r>
          </a:p>
        </p:txBody>
      </p:sp>
      <p:sp>
        <p:nvSpPr>
          <p:cNvPr id="6" name="Freeform 6"/>
          <p:cNvSpPr/>
          <p:nvPr/>
        </p:nvSpPr>
        <p:spPr>
          <a:xfrm rot="-4152183">
            <a:off x="5990736" y="3262296"/>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graphicFrame>
        <p:nvGraphicFramePr>
          <p:cNvPr id="12" name="Table 11">
            <a:extLst>
              <a:ext uri="{FF2B5EF4-FFF2-40B4-BE49-F238E27FC236}">
                <a16:creationId xmlns:a16="http://schemas.microsoft.com/office/drawing/2014/main" id="{0E8E58E8-6F4C-6AE7-2672-F13F8FE5D27E}"/>
              </a:ext>
            </a:extLst>
          </p:cNvPr>
          <p:cNvGraphicFramePr>
            <a:graphicFrameLocks noGrp="1"/>
          </p:cNvGraphicFramePr>
          <p:nvPr>
            <p:extLst>
              <p:ext uri="{D42A27DB-BD31-4B8C-83A1-F6EECF244321}">
                <p14:modId xmlns:p14="http://schemas.microsoft.com/office/powerpoint/2010/main" val="2364408887"/>
              </p:ext>
            </p:extLst>
          </p:nvPr>
        </p:nvGraphicFramePr>
        <p:xfrm>
          <a:off x="1295400" y="2292090"/>
          <a:ext cx="15621000" cy="6863345"/>
        </p:xfrm>
        <a:graphic>
          <a:graphicData uri="http://schemas.openxmlformats.org/drawingml/2006/table">
            <a:tbl>
              <a:tblPr firstRow="1" bandRow="1">
                <a:tableStyleId>{5DA37D80-6434-44D0-A028-1B22A696006F}</a:tableStyleId>
              </a:tblPr>
              <a:tblGrid>
                <a:gridCol w="7772400">
                  <a:extLst>
                    <a:ext uri="{9D8B030D-6E8A-4147-A177-3AD203B41FA5}">
                      <a16:colId xmlns:a16="http://schemas.microsoft.com/office/drawing/2014/main" val="473559217"/>
                    </a:ext>
                  </a:extLst>
                </a:gridCol>
                <a:gridCol w="7848600">
                  <a:extLst>
                    <a:ext uri="{9D8B030D-6E8A-4147-A177-3AD203B41FA5}">
                      <a16:colId xmlns:a16="http://schemas.microsoft.com/office/drawing/2014/main" val="1503320789"/>
                    </a:ext>
                  </a:extLst>
                </a:gridCol>
              </a:tblGrid>
              <a:tr h="848890">
                <a:tc>
                  <a:txBody>
                    <a:bodyPr/>
                    <a:lstStyle/>
                    <a:p>
                      <a:pPr algn="ctr"/>
                      <a:r>
                        <a:rPr lang="en-IN" sz="6000" b="0" dirty="0">
                          <a:solidFill>
                            <a:schemeClr val="tx1">
                              <a:lumMod val="95000"/>
                              <a:lumOff val="5000"/>
                            </a:schemeClr>
                          </a:solidFill>
                        </a:rPr>
                        <a:t>Challenges</a:t>
                      </a:r>
                    </a:p>
                  </a:txBody>
                  <a:tcPr/>
                </a:tc>
                <a:tc>
                  <a:txBody>
                    <a:bodyPr/>
                    <a:lstStyle/>
                    <a:p>
                      <a:pPr algn="ctr"/>
                      <a:r>
                        <a:rPr lang="en-IN" sz="6000" b="0" dirty="0"/>
                        <a:t>Solutions</a:t>
                      </a:r>
                    </a:p>
                  </a:txBody>
                  <a:tcPr/>
                </a:tc>
                <a:extLst>
                  <a:ext uri="{0D108BD9-81ED-4DB2-BD59-A6C34878D82A}">
                    <a16:rowId xmlns:a16="http://schemas.microsoft.com/office/drawing/2014/main" val="87223097"/>
                  </a:ext>
                </a:extLst>
              </a:tr>
              <a:tr h="1432851">
                <a:tc>
                  <a:txBody>
                    <a:bodyPr/>
                    <a:lstStyle/>
                    <a:p>
                      <a:pPr marL="457200" indent="-457200">
                        <a:buFont typeface="Wingdings" panose="05000000000000000000" pitchFamily="2" charset="2"/>
                        <a:buChar char="Ø"/>
                      </a:pPr>
                      <a:r>
                        <a:rPr lang="en-US" sz="3200" dirty="0"/>
                        <a:t> Real-time logistics data is uncertain (traffic, weather).</a:t>
                      </a:r>
                      <a:endParaRPr lang="en-IN" sz="3200" dirty="0"/>
                    </a:p>
                  </a:txBody>
                  <a:tcPr/>
                </a:tc>
                <a:tc>
                  <a:txBody>
                    <a:bodyPr/>
                    <a:lstStyle/>
                    <a:p>
                      <a:pPr marL="457200" indent="-457200">
                        <a:buFont typeface="Wingdings" panose="05000000000000000000" pitchFamily="2" charset="2"/>
                        <a:buChar char="Ø"/>
                      </a:pPr>
                      <a:r>
                        <a:rPr lang="en-US" sz="3200" dirty="0"/>
                        <a:t> Integrated live APIs for traffic and weather to improve prediction accuracy.</a:t>
                      </a:r>
                      <a:endParaRPr lang="en-IN" sz="3200" dirty="0"/>
                    </a:p>
                  </a:txBody>
                  <a:tcPr/>
                </a:tc>
                <a:extLst>
                  <a:ext uri="{0D108BD9-81ED-4DB2-BD59-A6C34878D82A}">
                    <a16:rowId xmlns:a16="http://schemas.microsoft.com/office/drawing/2014/main" val="1155997225"/>
                  </a:ext>
                </a:extLst>
              </a:tr>
              <a:tr h="1294052">
                <a:tc>
                  <a:txBody>
                    <a:bodyPr/>
                    <a:lstStyle/>
                    <a:p>
                      <a:pPr marL="0" indent="0">
                        <a:buFont typeface="Wingdings" panose="05000000000000000000" pitchFamily="2" charset="2"/>
                        <a:buNone/>
                      </a:pPr>
                      <a:endParaRPr lang="en-IN" sz="3200" dirty="0"/>
                    </a:p>
                    <a:p>
                      <a:pPr marL="457200" indent="-457200">
                        <a:buFont typeface="Wingdings" panose="05000000000000000000" pitchFamily="2" charset="2"/>
                        <a:buChar char="Ø"/>
                      </a:pPr>
                      <a:r>
                        <a:rPr lang="en-IN" sz="3200" dirty="0"/>
                        <a:t>Detecting unexpected shipment delays.</a:t>
                      </a:r>
                    </a:p>
                  </a:txBody>
                  <a:tcPr/>
                </a:tc>
                <a:tc>
                  <a:txBody>
                    <a:bodyPr/>
                    <a:lstStyle/>
                    <a:p>
                      <a:pPr marL="457200" indent="-457200">
                        <a:buFont typeface="Wingdings" panose="05000000000000000000" pitchFamily="2" charset="2"/>
                        <a:buChar char="Ø"/>
                      </a:pPr>
                      <a:r>
                        <a:rPr lang="en-IN" sz="3200" dirty="0"/>
                        <a:t> I</a:t>
                      </a:r>
                      <a:r>
                        <a:rPr lang="en-US" sz="3200" dirty="0" err="1"/>
                        <a:t>mplemented</a:t>
                      </a:r>
                      <a:r>
                        <a:rPr lang="en-US" sz="3200" dirty="0"/>
                        <a:t> AI Anomaly Detection to identify abnormal routes and high-risk shipments.</a:t>
                      </a:r>
                      <a:endParaRPr lang="en-IN" sz="3200" dirty="0"/>
                    </a:p>
                  </a:txBody>
                  <a:tcPr/>
                </a:tc>
                <a:extLst>
                  <a:ext uri="{0D108BD9-81ED-4DB2-BD59-A6C34878D82A}">
                    <a16:rowId xmlns:a16="http://schemas.microsoft.com/office/drawing/2014/main" val="3301353624"/>
                  </a:ext>
                </a:extLst>
              </a:tr>
              <a:tr h="1315694">
                <a:tc>
                  <a:txBody>
                    <a:bodyPr/>
                    <a:lstStyle/>
                    <a:p>
                      <a:pPr marL="457200" indent="-457200">
                        <a:buFont typeface="Wingdings" panose="05000000000000000000" pitchFamily="2" charset="2"/>
                        <a:buChar char="Ø"/>
                      </a:pPr>
                      <a:r>
                        <a:rPr lang="en-IN" sz="3200" dirty="0"/>
                        <a:t> Sudden disruptions during transportation.</a:t>
                      </a:r>
                    </a:p>
                  </a:txBody>
                  <a:tcPr/>
                </a:tc>
                <a:tc>
                  <a:txBody>
                    <a:bodyPr/>
                    <a:lstStyle/>
                    <a:p>
                      <a:pPr marL="457200" indent="-457200">
                        <a:buFont typeface="Wingdings" panose="05000000000000000000" pitchFamily="2" charset="2"/>
                        <a:buChar char="Ø"/>
                      </a:pPr>
                      <a:r>
                        <a:rPr lang="en-IN" sz="3200" dirty="0"/>
                        <a:t> B</a:t>
                      </a:r>
                      <a:r>
                        <a:rPr lang="en-US" sz="3200" dirty="0" err="1"/>
                        <a:t>uilt</a:t>
                      </a:r>
                      <a:r>
                        <a:rPr lang="en-US" sz="3200" dirty="0"/>
                        <a:t> an AI Disruption Simulator to predict future delay scenarios.</a:t>
                      </a:r>
                      <a:endParaRPr lang="en-IN" sz="3200" dirty="0"/>
                    </a:p>
                  </a:txBody>
                  <a:tcPr/>
                </a:tc>
                <a:extLst>
                  <a:ext uri="{0D108BD9-81ED-4DB2-BD59-A6C34878D82A}">
                    <a16:rowId xmlns:a16="http://schemas.microsoft.com/office/drawing/2014/main" val="58584895"/>
                  </a:ext>
                </a:extLst>
              </a:tr>
              <a:tr h="1176025">
                <a:tc>
                  <a:txBody>
                    <a:bodyPr/>
                    <a:lstStyle/>
                    <a:p>
                      <a:pPr marL="457200" indent="-457200">
                        <a:buFont typeface="Wingdings" panose="05000000000000000000" pitchFamily="2" charset="2"/>
                        <a:buChar char="Ø"/>
                      </a:pPr>
                      <a:endParaRPr lang="en-IN" sz="3200" dirty="0"/>
                    </a:p>
                    <a:p>
                      <a:pPr marL="457200" indent="-457200">
                        <a:buFont typeface="Wingdings" panose="05000000000000000000" pitchFamily="2" charset="2"/>
                        <a:buChar char="Ø"/>
                      </a:pPr>
                      <a:r>
                        <a:rPr lang="en-IN" sz="3200" dirty="0"/>
                        <a:t> </a:t>
                      </a:r>
                      <a:r>
                        <a:rPr lang="en-US" sz="3200" dirty="0"/>
                        <a:t>Route failure due to high delay risk.</a:t>
                      </a:r>
                      <a:endParaRPr lang="en-IN" sz="3200" dirty="0"/>
                    </a:p>
                  </a:txBody>
                  <a:tcPr/>
                </a:tc>
                <a:tc>
                  <a:txBody>
                    <a:bodyPr/>
                    <a:lstStyle/>
                    <a:p>
                      <a:pPr marL="457200" indent="-457200">
                        <a:buFont typeface="Wingdings" panose="05000000000000000000" pitchFamily="2" charset="2"/>
                        <a:buChar char="Ø"/>
                      </a:pPr>
                      <a:r>
                        <a:rPr lang="en-IN" sz="3200" dirty="0"/>
                        <a:t> </a:t>
                      </a:r>
                      <a:r>
                        <a:rPr lang="en-US" sz="3200" dirty="0"/>
                        <a:t>Developed a Self-Healing Route System that automatically switches to a safer alternative route.</a:t>
                      </a:r>
                      <a:endParaRPr lang="en-IN" sz="3200" dirty="0"/>
                    </a:p>
                  </a:txBody>
                  <a:tcPr/>
                </a:tc>
                <a:extLst>
                  <a:ext uri="{0D108BD9-81ED-4DB2-BD59-A6C34878D82A}">
                    <a16:rowId xmlns:a16="http://schemas.microsoft.com/office/drawing/2014/main" val="384396302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a:extLst>
            <a:ext uri="{FF2B5EF4-FFF2-40B4-BE49-F238E27FC236}">
              <a16:creationId xmlns:a16="http://schemas.microsoft.com/office/drawing/2014/main" id="{1CD8452F-E9C5-0C7E-3078-F264E76088A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0CD456-3015-560C-37DC-A51883F087D6}"/>
              </a:ext>
            </a:extLst>
          </p:cNvPr>
          <p:cNvGrpSpPr/>
          <p:nvPr/>
        </p:nvGrpSpPr>
        <p:grpSpPr>
          <a:xfrm>
            <a:off x="275698" y="-135386"/>
            <a:ext cx="18021827" cy="1906457"/>
            <a:chOff x="0" y="0"/>
            <a:chExt cx="24029102" cy="2541943"/>
          </a:xfrm>
        </p:grpSpPr>
        <p:sp>
          <p:nvSpPr>
            <p:cNvPr id="3" name="Freeform 3">
              <a:extLst>
                <a:ext uri="{FF2B5EF4-FFF2-40B4-BE49-F238E27FC236}">
                  <a16:creationId xmlns:a16="http://schemas.microsoft.com/office/drawing/2014/main" id="{5BECDADE-EDF1-3BF7-21DB-09AE50AF4B36}"/>
                </a:ext>
              </a:extLst>
            </p:cNvPr>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2"/>
              <a:stretch>
                <a:fillRect/>
              </a:stretch>
            </a:blipFill>
          </p:spPr>
        </p:sp>
        <p:sp>
          <p:nvSpPr>
            <p:cNvPr id="4" name="Freeform 4">
              <a:extLst>
                <a:ext uri="{FF2B5EF4-FFF2-40B4-BE49-F238E27FC236}">
                  <a16:creationId xmlns:a16="http://schemas.microsoft.com/office/drawing/2014/main" id="{C22542E3-D0A1-FDE7-2389-7BA8C33544D8}"/>
                </a:ext>
              </a:extLst>
            </p:cNvPr>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3"/>
              <a:stretch>
                <a:fillRect/>
              </a:stretch>
            </a:blipFill>
          </p:spPr>
        </p:sp>
      </p:grpSp>
      <p:sp>
        <p:nvSpPr>
          <p:cNvPr id="5" name="TextBox 5">
            <a:extLst>
              <a:ext uri="{FF2B5EF4-FFF2-40B4-BE49-F238E27FC236}">
                <a16:creationId xmlns:a16="http://schemas.microsoft.com/office/drawing/2014/main" id="{3BD86AEB-14D2-16DB-ECDF-7540FB569B0D}"/>
              </a:ext>
            </a:extLst>
          </p:cNvPr>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US" sz="5599" b="1" u="sng" dirty="0">
                <a:solidFill>
                  <a:srgbClr val="2B2A35"/>
                </a:solidFill>
                <a:latin typeface="Inter Bold"/>
                <a:ea typeface="Inter Bold"/>
                <a:cs typeface="Inter Bold"/>
                <a:sym typeface="Inter Bold"/>
              </a:rPr>
              <a:t>Future Scope</a:t>
            </a:r>
          </a:p>
        </p:txBody>
      </p:sp>
      <p:sp>
        <p:nvSpPr>
          <p:cNvPr id="6" name="Freeform 6">
            <a:extLst>
              <a:ext uri="{FF2B5EF4-FFF2-40B4-BE49-F238E27FC236}">
                <a16:creationId xmlns:a16="http://schemas.microsoft.com/office/drawing/2014/main" id="{D7F7ECF2-EB3F-3DBF-F9FA-149162107305}"/>
              </a:ext>
            </a:extLst>
          </p:cNvPr>
          <p:cNvSpPr/>
          <p:nvPr/>
        </p:nvSpPr>
        <p:spPr>
          <a:xfrm rot="-4152183">
            <a:off x="4304175" y="1522041"/>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txBody>
          <a:bodyPr/>
          <a:lstStyle/>
          <a:p>
            <a:endParaRPr lang="en-IN" dirty="0"/>
          </a:p>
        </p:txBody>
      </p:sp>
      <p:sp>
        <p:nvSpPr>
          <p:cNvPr id="8" name="TextBox 7">
            <a:extLst>
              <a:ext uri="{FF2B5EF4-FFF2-40B4-BE49-F238E27FC236}">
                <a16:creationId xmlns:a16="http://schemas.microsoft.com/office/drawing/2014/main" id="{BB174A88-59AF-F2B4-B177-EBB4234291B0}"/>
              </a:ext>
            </a:extLst>
          </p:cNvPr>
          <p:cNvSpPr txBox="1"/>
          <p:nvPr/>
        </p:nvSpPr>
        <p:spPr>
          <a:xfrm>
            <a:off x="990600" y="1836005"/>
            <a:ext cx="16611600" cy="7971413"/>
          </a:xfrm>
          <a:prstGeom prst="rect">
            <a:avLst/>
          </a:prstGeom>
          <a:noFill/>
        </p:spPr>
        <p:txBody>
          <a:bodyPr wrap="square">
            <a:spAutoFit/>
          </a:bodyPr>
          <a:lstStyle/>
          <a:p>
            <a:pPr marL="457200" indent="-457200">
              <a:buFont typeface="Wingdings" panose="05000000000000000000" pitchFamily="2" charset="2"/>
              <a:buChar char="Ø"/>
            </a:pPr>
            <a:r>
              <a:rPr lang="en-US" sz="3200" b="1" dirty="0"/>
              <a:t>Real-Time IoT Integration: </a:t>
            </a:r>
            <a:r>
              <a:rPr lang="en-US" sz="3200" dirty="0"/>
              <a:t>In the future, the system can integrate with IoT devices like GPS trackers and vehicle sensors to collect real-time shipment location, temperature, and road conditions for more accurate predictions.</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 </a:t>
            </a:r>
            <a:r>
              <a:rPr lang="en-US" sz="3200" b="1" dirty="0"/>
              <a:t>Advanced AI Models: </a:t>
            </a:r>
            <a:r>
              <a:rPr lang="en-US" sz="3200" dirty="0"/>
              <a:t>More advanced machine learning and deep learning models can be used to improve delay prediction accuracy and optimize routes dynamically.</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 </a:t>
            </a:r>
            <a:r>
              <a:rPr lang="en-US" sz="3200" b="1" dirty="0"/>
              <a:t>Live Traffic &amp; Incident Data Integration</a:t>
            </a:r>
            <a:r>
              <a:rPr lang="en-US" sz="3200" dirty="0"/>
              <a:t>: The system can integrate with real-time accident alerts, road closures, and construction updates to automatically reroute shipments.</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dirty="0"/>
              <a:t> </a:t>
            </a:r>
            <a:r>
              <a:rPr lang="en-US" sz="3200" b="1" dirty="0"/>
              <a:t>Autonomous Logistics Decision System: </a:t>
            </a:r>
            <a:r>
              <a:rPr lang="en-US" sz="3200" dirty="0"/>
              <a:t>The platform can evolve into a fully autonomous logistics management system capable of making real-time decisions without human intervention.</a:t>
            </a:r>
          </a:p>
          <a:p>
            <a:pPr marL="457200" indent="-457200">
              <a:buFont typeface="Wingdings" panose="05000000000000000000" pitchFamily="2" charset="2"/>
              <a:buChar char="Ø"/>
            </a:pPr>
            <a:endParaRPr lang="en-US" sz="3200" dirty="0"/>
          </a:p>
          <a:p>
            <a:pPr marL="457200" indent="-457200">
              <a:buFont typeface="Wingdings" panose="05000000000000000000" pitchFamily="2" charset="2"/>
              <a:buChar char="Ø"/>
            </a:pPr>
            <a:r>
              <a:rPr lang="en-US" sz="3200" b="1" dirty="0"/>
              <a:t>Scalable Cloud Deployment: </a:t>
            </a:r>
            <a:r>
              <a:rPr lang="en-US" sz="3200" dirty="0"/>
              <a:t>Deploying the system on cloud platforms can allow logistics companies to manage thousands of shipments simultaneously with high scalability.</a:t>
            </a:r>
            <a:endParaRPr lang="en-IN" sz="3200" dirty="0"/>
          </a:p>
        </p:txBody>
      </p:sp>
    </p:spTree>
    <p:extLst>
      <p:ext uri="{BB962C8B-B14F-4D97-AF65-F5344CB8AC3E}">
        <p14:creationId xmlns:p14="http://schemas.microsoft.com/office/powerpoint/2010/main" val="3923938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7AD">
                <a:alpha val="100000"/>
              </a:srgbClr>
            </a:gs>
            <a:gs pos="100000">
              <a:srgbClr val="FFA9F9">
                <a:alpha val="100000"/>
              </a:srgbClr>
            </a:gs>
          </a:gsLst>
          <a:lin ang="0"/>
        </a:gradFill>
        <a:effectLst/>
      </p:bgPr>
    </p:bg>
    <p:spTree>
      <p:nvGrpSpPr>
        <p:cNvPr id="1" name="">
          <a:extLst>
            <a:ext uri="{FF2B5EF4-FFF2-40B4-BE49-F238E27FC236}">
              <a16:creationId xmlns:a16="http://schemas.microsoft.com/office/drawing/2014/main" id="{694CE7DD-E3AA-E5C5-5D7E-D489A23F377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99E98C-353E-D43E-AA6E-9BB6795125F0}"/>
              </a:ext>
            </a:extLst>
          </p:cNvPr>
          <p:cNvGrpSpPr/>
          <p:nvPr/>
        </p:nvGrpSpPr>
        <p:grpSpPr>
          <a:xfrm>
            <a:off x="275698" y="-135386"/>
            <a:ext cx="18021827" cy="1906457"/>
            <a:chOff x="0" y="0"/>
            <a:chExt cx="24029102" cy="2541943"/>
          </a:xfrm>
        </p:grpSpPr>
        <p:sp>
          <p:nvSpPr>
            <p:cNvPr id="3" name="Freeform 3">
              <a:extLst>
                <a:ext uri="{FF2B5EF4-FFF2-40B4-BE49-F238E27FC236}">
                  <a16:creationId xmlns:a16="http://schemas.microsoft.com/office/drawing/2014/main" id="{D5AB777F-C9ED-D1AA-ABE8-01AA9156FF5D}"/>
                </a:ext>
              </a:extLst>
            </p:cNvPr>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2"/>
              <a:stretch>
                <a:fillRect/>
              </a:stretch>
            </a:blipFill>
          </p:spPr>
        </p:sp>
        <p:sp>
          <p:nvSpPr>
            <p:cNvPr id="4" name="Freeform 4">
              <a:extLst>
                <a:ext uri="{FF2B5EF4-FFF2-40B4-BE49-F238E27FC236}">
                  <a16:creationId xmlns:a16="http://schemas.microsoft.com/office/drawing/2014/main" id="{08FA5DCD-8C89-F3E9-60C1-07F75FD4A9B4}"/>
                </a:ext>
              </a:extLst>
            </p:cNvPr>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3"/>
              <a:stretch>
                <a:fillRect/>
              </a:stretch>
            </a:blipFill>
          </p:spPr>
        </p:sp>
      </p:grpSp>
      <p:sp>
        <p:nvSpPr>
          <p:cNvPr id="5" name="TextBox 5">
            <a:extLst>
              <a:ext uri="{FF2B5EF4-FFF2-40B4-BE49-F238E27FC236}">
                <a16:creationId xmlns:a16="http://schemas.microsoft.com/office/drawing/2014/main" id="{E52D39C8-3756-55D1-F5B7-CC72049226D4}"/>
              </a:ext>
            </a:extLst>
          </p:cNvPr>
          <p:cNvSpPr txBox="1"/>
          <p:nvPr/>
        </p:nvSpPr>
        <p:spPr>
          <a:xfrm>
            <a:off x="2743200" y="269774"/>
            <a:ext cx="12801600" cy="972312"/>
          </a:xfrm>
          <a:prstGeom prst="rect">
            <a:avLst/>
          </a:prstGeom>
        </p:spPr>
        <p:txBody>
          <a:bodyPr lIns="0" tIns="0" rIns="0" bIns="0" rtlCol="0" anchor="t">
            <a:spAutoFit/>
          </a:bodyPr>
          <a:lstStyle/>
          <a:p>
            <a:pPr algn="ctr">
              <a:lnSpc>
                <a:spcPts val="8063"/>
              </a:lnSpc>
            </a:pPr>
            <a:r>
              <a:rPr lang="en-IN" sz="5599" b="1" u="sng" dirty="0">
                <a:solidFill>
                  <a:srgbClr val="2B2A35"/>
                </a:solidFill>
                <a:latin typeface="Inter Bold"/>
                <a:ea typeface="Inter Bold"/>
                <a:cs typeface="Inter Bold"/>
                <a:sym typeface="Inter Bold"/>
              </a:rPr>
              <a:t>Conclusion</a:t>
            </a:r>
            <a:endParaRPr lang="en-US" sz="5599" b="1" u="sng" dirty="0">
              <a:solidFill>
                <a:srgbClr val="2B2A35"/>
              </a:solidFill>
              <a:latin typeface="Inter Bold"/>
              <a:ea typeface="Inter Bold"/>
              <a:cs typeface="Inter Bold"/>
              <a:sym typeface="Inter Bold"/>
            </a:endParaRPr>
          </a:p>
        </p:txBody>
      </p:sp>
      <p:sp>
        <p:nvSpPr>
          <p:cNvPr id="6" name="Freeform 6">
            <a:extLst>
              <a:ext uri="{FF2B5EF4-FFF2-40B4-BE49-F238E27FC236}">
                <a16:creationId xmlns:a16="http://schemas.microsoft.com/office/drawing/2014/main" id="{B84A664F-1D1C-4C15-14D9-69CDDB152D6E}"/>
              </a:ext>
            </a:extLst>
          </p:cNvPr>
          <p:cNvSpPr/>
          <p:nvPr/>
        </p:nvSpPr>
        <p:spPr>
          <a:xfrm rot="-4152183">
            <a:off x="5990736" y="3262296"/>
            <a:ext cx="14539777" cy="9620930"/>
          </a:xfrm>
          <a:custGeom>
            <a:avLst/>
            <a:gdLst/>
            <a:ahLst/>
            <a:cxnLst/>
            <a:rect l="l" t="t" r="r" b="b"/>
            <a:pathLst>
              <a:path w="14539777" h="9620930">
                <a:moveTo>
                  <a:pt x="0" y="0"/>
                </a:moveTo>
                <a:lnTo>
                  <a:pt x="14539777" y="0"/>
                </a:lnTo>
                <a:lnTo>
                  <a:pt x="14539777" y="9620930"/>
                </a:lnTo>
                <a:lnTo>
                  <a:pt x="0" y="9620930"/>
                </a:lnTo>
                <a:lnTo>
                  <a:pt x="0" y="0"/>
                </a:lnTo>
                <a:close/>
              </a:path>
            </a:pathLst>
          </a:custGeom>
          <a:blipFill>
            <a:blip r:embed="rId4">
              <a:alphaModFix amt="47000"/>
              <a:extLst>
                <a:ext uri="{96DAC541-7B7A-43D3-8B79-37D633B846F1}">
                  <asvg:svgBlip xmlns:asvg="http://schemas.microsoft.com/office/drawing/2016/SVG/main" r:embed="rId5"/>
                </a:ext>
              </a:extLst>
            </a:blip>
            <a:stretch>
              <a:fillRect/>
            </a:stretch>
          </a:blipFill>
        </p:spPr>
      </p:sp>
      <p:sp>
        <p:nvSpPr>
          <p:cNvPr id="8" name="TextBox 7">
            <a:extLst>
              <a:ext uri="{FF2B5EF4-FFF2-40B4-BE49-F238E27FC236}">
                <a16:creationId xmlns:a16="http://schemas.microsoft.com/office/drawing/2014/main" id="{EAE3340D-914F-ECE4-1579-AA2C06C977CB}"/>
              </a:ext>
            </a:extLst>
          </p:cNvPr>
          <p:cNvSpPr txBox="1"/>
          <p:nvPr/>
        </p:nvSpPr>
        <p:spPr>
          <a:xfrm>
            <a:off x="914400" y="1986416"/>
            <a:ext cx="16916399" cy="7478970"/>
          </a:xfrm>
          <a:prstGeom prst="rect">
            <a:avLst/>
          </a:prstGeom>
          <a:noFill/>
        </p:spPr>
        <p:txBody>
          <a:bodyPr wrap="square">
            <a:spAutoFit/>
          </a:bodyPr>
          <a:lstStyle/>
          <a:p>
            <a:pPr marL="457200" indent="-457200">
              <a:buFont typeface="Wingdings" panose="05000000000000000000" pitchFamily="2" charset="2"/>
              <a:buChar char="Ø"/>
            </a:pPr>
            <a:r>
              <a:rPr lang="en-US" sz="3200" dirty="0"/>
              <a:t>While large logistics companies in India use Al for route optimization and delivery prediction, our system combines early delay warning, disruption simulation, anomaly detection, and Al-assisted rerouting in a single decision-support platform.</a:t>
            </a:r>
          </a:p>
          <a:p>
            <a:pPr marL="457200" indent="-457200">
              <a:buFont typeface="Wingdings" panose="05000000000000000000" pitchFamily="2" charset="2"/>
              <a:buChar char="Ø"/>
            </a:pPr>
            <a:endParaRPr lang="en-IN" sz="3200" dirty="0"/>
          </a:p>
          <a:p>
            <a:pPr marL="457200" indent="-457200">
              <a:buFont typeface="Wingdings" panose="05000000000000000000" pitchFamily="2" charset="2"/>
              <a:buChar char="Ø"/>
            </a:pPr>
            <a:r>
              <a:rPr lang="en-IN" sz="3200" dirty="0"/>
              <a:t>The system integrates traffic data, weather conditions, and machine learning models to provide intelligent route recommendations.</a:t>
            </a:r>
          </a:p>
          <a:p>
            <a:pPr marL="457200" indent="-457200">
              <a:buFont typeface="Wingdings" panose="05000000000000000000" pitchFamily="2" charset="2"/>
              <a:buChar char="Ø"/>
            </a:pPr>
            <a:endParaRPr lang="en-IN" sz="3200" dirty="0"/>
          </a:p>
          <a:p>
            <a:pPr marL="457200" indent="-457200">
              <a:buFont typeface="Wingdings" panose="05000000000000000000" pitchFamily="2" charset="2"/>
              <a:buChar char="Ø"/>
            </a:pPr>
            <a:r>
              <a:rPr lang="en-IN" sz="3200" dirty="0"/>
              <a:t>Advanced features such as AI Anomaly Detection, Disruption Simulation, and Self-Healing Routing make the system more adaptive to real-world logistics challenges.</a:t>
            </a:r>
          </a:p>
          <a:p>
            <a:pPr marL="457200" indent="-457200">
              <a:buFont typeface="Wingdings" panose="05000000000000000000" pitchFamily="2" charset="2"/>
              <a:buChar char="Ø"/>
            </a:pPr>
            <a:endParaRPr lang="en-IN" sz="3200" dirty="0"/>
          </a:p>
          <a:p>
            <a:pPr marL="457200" indent="-457200">
              <a:buFont typeface="Wingdings" panose="05000000000000000000" pitchFamily="2" charset="2"/>
              <a:buChar char="Ø"/>
            </a:pPr>
            <a:r>
              <a:rPr lang="en-IN" sz="3200" dirty="0"/>
              <a:t>The solution provides data-driven decision support, helping logistics managers reduce delays, operational costs, and delivery risks.</a:t>
            </a:r>
          </a:p>
          <a:p>
            <a:pPr marL="457200" indent="-457200">
              <a:buFont typeface="Wingdings" panose="05000000000000000000" pitchFamily="2" charset="2"/>
              <a:buChar char="Ø"/>
            </a:pPr>
            <a:endParaRPr lang="en-IN" sz="3200" dirty="0"/>
          </a:p>
          <a:p>
            <a:pPr marL="457200" indent="-457200">
              <a:buFont typeface="Wingdings" panose="05000000000000000000" pitchFamily="2" charset="2"/>
              <a:buChar char="Ø"/>
            </a:pPr>
            <a:r>
              <a:rPr lang="en-IN" sz="3200" dirty="0"/>
              <a:t> Overall, the proposed system highlights the potential of AI-powered smart logistics for building more efficient, reliable, and intelligent supply chain networks.</a:t>
            </a:r>
          </a:p>
        </p:txBody>
      </p:sp>
    </p:spTree>
    <p:extLst>
      <p:ext uri="{BB962C8B-B14F-4D97-AF65-F5344CB8AC3E}">
        <p14:creationId xmlns:p14="http://schemas.microsoft.com/office/powerpoint/2010/main" val="2890714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C3040">
                <a:alpha val="100000"/>
              </a:srgbClr>
            </a:gs>
            <a:gs pos="100000">
              <a:srgbClr val="161A2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891540"/>
            <a:ext cx="18288000" cy="12801600"/>
          </a:xfrm>
          <a:custGeom>
            <a:avLst/>
            <a:gdLst/>
            <a:ahLst/>
            <a:cxnLst/>
            <a:rect l="l" t="t" r="r" b="b"/>
            <a:pathLst>
              <a:path w="18288000" h="12801600">
                <a:moveTo>
                  <a:pt x="0" y="0"/>
                </a:moveTo>
                <a:lnTo>
                  <a:pt x="18288000" y="0"/>
                </a:lnTo>
                <a:lnTo>
                  <a:pt x="18288000" y="12801600"/>
                </a:lnTo>
                <a:lnTo>
                  <a:pt x="0" y="12801600"/>
                </a:lnTo>
                <a:lnTo>
                  <a:pt x="0" y="0"/>
                </a:lnTo>
                <a:close/>
              </a:path>
            </a:pathLst>
          </a:custGeom>
          <a:blipFill>
            <a:blip r:embed="rId2"/>
            <a:stretch>
              <a:fillRect/>
            </a:stretch>
          </a:blipFill>
        </p:spPr>
      </p:sp>
      <p:grpSp>
        <p:nvGrpSpPr>
          <p:cNvPr id="3" name="Group 3"/>
          <p:cNvGrpSpPr/>
          <p:nvPr/>
        </p:nvGrpSpPr>
        <p:grpSpPr>
          <a:xfrm>
            <a:off x="275698" y="-135386"/>
            <a:ext cx="18021827" cy="1906457"/>
            <a:chOff x="0" y="0"/>
            <a:chExt cx="24029102" cy="2541943"/>
          </a:xfrm>
        </p:grpSpPr>
        <p:sp>
          <p:nvSpPr>
            <p:cNvPr id="4" name="Freeform 4"/>
            <p:cNvSpPr/>
            <p:nvPr/>
          </p:nvSpPr>
          <p:spPr>
            <a:xfrm>
              <a:off x="0" y="453635"/>
              <a:ext cx="6485820" cy="1710874"/>
            </a:xfrm>
            <a:custGeom>
              <a:avLst/>
              <a:gdLst/>
              <a:ahLst/>
              <a:cxnLst/>
              <a:rect l="l" t="t" r="r" b="b"/>
              <a:pathLst>
                <a:path w="6485820" h="1710874">
                  <a:moveTo>
                    <a:pt x="0" y="0"/>
                  </a:moveTo>
                  <a:lnTo>
                    <a:pt x="6485820" y="0"/>
                  </a:lnTo>
                  <a:lnTo>
                    <a:pt x="6485820" y="1710873"/>
                  </a:lnTo>
                  <a:lnTo>
                    <a:pt x="0" y="1710873"/>
                  </a:lnTo>
                  <a:lnTo>
                    <a:pt x="0" y="0"/>
                  </a:lnTo>
                  <a:close/>
                </a:path>
              </a:pathLst>
            </a:custGeom>
            <a:blipFill>
              <a:blip r:embed="rId3"/>
              <a:stretch>
                <a:fillRect/>
              </a:stretch>
            </a:blipFill>
          </p:spPr>
        </p:sp>
        <p:sp>
          <p:nvSpPr>
            <p:cNvPr id="5" name="Freeform 5"/>
            <p:cNvSpPr/>
            <p:nvPr/>
          </p:nvSpPr>
          <p:spPr>
            <a:xfrm>
              <a:off x="21487159" y="0"/>
              <a:ext cx="2541943" cy="2541943"/>
            </a:xfrm>
            <a:custGeom>
              <a:avLst/>
              <a:gdLst/>
              <a:ahLst/>
              <a:cxnLst/>
              <a:rect l="l" t="t" r="r" b="b"/>
              <a:pathLst>
                <a:path w="2541943" h="2541943">
                  <a:moveTo>
                    <a:pt x="0" y="0"/>
                  </a:moveTo>
                  <a:lnTo>
                    <a:pt x="2541943" y="0"/>
                  </a:lnTo>
                  <a:lnTo>
                    <a:pt x="2541943" y="2541943"/>
                  </a:lnTo>
                  <a:lnTo>
                    <a:pt x="0" y="2541943"/>
                  </a:lnTo>
                  <a:lnTo>
                    <a:pt x="0" y="0"/>
                  </a:lnTo>
                  <a:close/>
                </a:path>
              </a:pathLst>
            </a:custGeom>
            <a:blipFill>
              <a:blip r:embed="rId4"/>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1013</TotalTime>
  <Words>1173</Words>
  <Application>Microsoft Office PowerPoint</Application>
  <PresentationFormat>Custom</PresentationFormat>
  <Paragraphs>175</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Inter Bold</vt:lpstr>
      <vt:lpstr>Wingdings</vt:lpstr>
      <vt:lpstr>Fabrica Heavy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GIET_TechHack.pptx</dc:title>
  <cp:lastModifiedBy>Aadarsh Anubhabi Das</cp:lastModifiedBy>
  <cp:revision>5</cp:revision>
  <dcterms:created xsi:type="dcterms:W3CDTF">2006-08-16T00:00:00Z</dcterms:created>
  <dcterms:modified xsi:type="dcterms:W3CDTF">2026-03-14T06:06:43Z</dcterms:modified>
  <dc:identifier>DAHDdYqYVv8</dc:identifier>
</cp:coreProperties>
</file>